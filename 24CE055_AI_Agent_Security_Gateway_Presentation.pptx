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[morning/afternoon], I'm Urval Kheni, 24CE055, Computer Engineering.</a:t>
            </a:r>
          </a:p>
          <a:p>
            <a:r>
              <a:t>My research methodology topic is "AI Agent Security Gateway" — a runtime security layer that sits between an AI agent and the tools, APIs, and MCP servers it calls, checking every tool call for prompt injection, tool poisoning, and unauthorized use BEFORE it executes.</a:t>
            </a:r>
          </a:p>
          <a:p>
            <a:r>
              <a:t>This addresses a gap I identified while studying how modern LLM agents (Claude, GPT, Copilot, Gemini-based agents) interact with external systems — the security checks happen too late, after the model has already decided to 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Modern AI agents don't just answer questions — they autonomously call APIs, query databases, read files, and invoke external tools to complete tasks.</a:t>
            </a:r>
          </a:p>
          <a:p>
            <a:r>
              <a:t>Each of these is a potential entry point: untrusted content (a webpage, an email, a document) can carry a hidden instruction that hijacks the agent — this is prompt injection. A malicious or compromised tool/MCP server can also feed the agent poisoned instructions — this is tool poisoning.</a:t>
            </a:r>
          </a:p>
          <a:p>
            <a:r>
              <a:t>The core issue, as the literature repeatedly notes, is that most existing defenses protect a single layer (the model, or the input, or one tool) rather than the complete pipeline from "user asks" to "tool executes."</a:t>
            </a:r>
          </a:p>
          <a:p>
            <a:r>
              <a:t>This creates a new attack surface unique to agentic systems, distinct from classic web or API security.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identify the gap, I reviewed the top 5 most relevant recent papers on this problem:</a:t>
            </a:r>
          </a:p>
          <a:p>
            <a:r>
              <a:t>1. CaMeL (Defeating Prompt Injections by Design) — Google DeepMind, 2025 — enforces capability-based data-flow security so untrusted data can never influence control flow.</a:t>
            </a:r>
          </a:p>
          <a:p>
            <a:r>
              <a:t>2. Progent (Programmable Privilege Control for LLM Agents) — arXiv, 2025 — a DSL for deterministic, tool-level privilege/policy enforcement — allow or block a tool call before it runs.</a:t>
            </a:r>
          </a:p>
          <a:p>
            <a:r>
              <a:t>3. AgentDojo — NeurIPS 2024 — the dynamic benchmark environment used to evaluate prompt-injection attacks and defenses on tool-calling agents.</a:t>
            </a:r>
          </a:p>
          <a:p>
            <a:r>
              <a:t>4. DataSentinel — IEEE S&amp;P (Oakland) 2025 — a game-theoretic, minimax-trained detector for prompt injection that stays robust against adaptive attackers.</a:t>
            </a:r>
          </a:p>
          <a:p>
            <a:r>
              <a:t>5. IsolateGPT — NDSS 2025 — an execution-isolation architecture that sandboxes each app/tool so a compromised one can't affect others.</a:t>
            </a:r>
          </a:p>
          <a:p>
            <a:r>
              <a:t>Each of these solves ONE layer well — detection, privilege, isolation, or benchmarking — but none combines them. That's the research gap: no single system unifies detection + privilege control + isolation + tool validation into one runtime gateway. That's exactly the direction I'm proposing.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literature has evolved in four stages:</a:t>
            </a:r>
          </a:p>
          <a:p>
            <a:r>
              <a:t>2023 — Threat foundations: Greshake et al. exposed indirect prompt injection in real LLM-integrated apps; GCG showed universal adversarial suffixes.</a:t>
            </a:r>
          </a:p>
          <a:p>
            <a:r>
              <a:t>2024 — Benchmarking: AgentDojo, InjecAgent, ASB, and ToolEmu gave the field a way to measure attacks and defenses systematically, alongside the Instruction Hierarchy paper from OpenAI.</a:t>
            </a:r>
          </a:p>
          <a:p>
            <a:r>
              <a:t>2024-25 — Defense architectures: CaMeL, Progent, IsolateGPT, GuardAgent, DataSentinel, StruQ and SecAlign each proposed a specific defense mechanism.</a:t>
            </a:r>
          </a:p>
          <a:p>
            <a:r>
              <a:t>2025-26 — MCP/tool security: as agents adopted the Model Context Protocol, MCPTox, MCP threat-modeling papers, and AgentSpec started addressing tool-poisoning specifically at the protocol level.</a:t>
            </a:r>
          </a:p>
          <a:p>
            <a:r>
              <a:t>Key observation: research has moved from identifying attacks → benchmarking them → building individual point defenses → and is now heading toward runtime enforcement. My work sits at that last, still-emerging stage.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concrete limitations motivate my proposed direction:</a:t>
            </a:r>
          </a:p>
          <a:p>
            <a:r>
              <a:t>1. Fragmented defense — almost every existing system focuses on one security layer only (just detection, or just privilege, or just isolation).</a:t>
            </a:r>
          </a:p>
          <a:p>
            <a:r>
              <a:t>2. Limited tool-level protection — even a good prompt-injection detector (like DataSentinel) doesn't automatically decide whether a tool call should be authorized or blocked; detection and authorization are separate, disconnected steps today.</a:t>
            </a:r>
          </a:p>
          <a:p>
            <a:r>
              <a:t>3. MCP tool poisoning — recognized as a serious, growing threat (MCPTox, MCP threat-modeling work), but practical, client-side, runtime defenses for it are still limited.</a:t>
            </a:r>
          </a:p>
          <a:p>
            <a:r>
              <a:t>4. Model dependency — several defenses (like DataSentinel's fine-tuned detector, or approaches needing extra LLM reasoning) add latency or need model access, which doesn't work for closed-source models or latency-sensitive production agents.</a:t>
            </a:r>
          </a:p>
          <a:p>
            <a:r>
              <a:t>Together these show: Detection, Privilege, Isolation, and Tool Security exist as separate building blocks, but nothing unifies them — that's the "not yet unified" gap this research addresses.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proposed direction is the AI Agent Security Gateway — a protocol-aware runtime layer sitting between the agent and its external tools/APIs/MCP servers, checking every call against Prompt Injection Detection, Tool Poisoning Detection, Tool Validation, Policy Enforcement, Privilege Control, Runtime Monitoring, and Audit Logging before returning an ALLOW or BLOCK decision.</a:t>
            </a:r>
          </a:p>
          <a:p>
            <a:r>
              <a:t>Future work, in order:</a:t>
            </a:r>
          </a:p>
          <a:p>
            <a:r>
              <a:t>1. Build the protocol-aware runtime gateway itself.</a:t>
            </a:r>
          </a:p>
          <a:p>
            <a:r>
              <a:t>2. Implement detection plus policy enforcement together, so a detected threat directly triggers a block — closing the gap identified on the previous slide.</a:t>
            </a:r>
          </a:p>
          <a:p>
            <a:r>
              <a:t>3. Add MCP-aware tool validation, since MCP tool poisoning is the least-covered threat in current literature.</a:t>
            </a:r>
          </a:p>
          <a:p>
            <a:r>
              <a:t>4. Evaluate the system against AgentDojo, InjecAgent, ASB, and MCPTox — the established benchmarks — to measure both security (attack success rate) and utility (task completion).</a:t>
            </a:r>
          </a:p>
          <a:p>
            <a:r>
              <a:t>Overall goal: move AI agent security from trusting the model's judgment to enforcing security at the point the agent actually executes an action.</a:t>
            </a:r>
          </a:p>
          <a:p/>
          <a:p>
            <a:r>
              <a:t>--- Base paper &amp; references (for my own record / viva prep) ---</a:t>
            </a:r>
          </a:p>
          <a:p>
            <a:r>
              <a:t>Base paper: Progent — "Progent: Programmable Privilege Control for LLM Agents" (arXiv, 2025). It's the closest architectural match to my proposed gateway: it enforces security at the exact point of tool-call execution using deterministic allow/block policies, which is the core mechanism my gateway's "Policy Enforcement + Privilege Control" block is built on. https://arxiv.org/abs/2504.11703</a:t>
            </a:r>
          </a:p>
          <a:p>
            <a:r>
              <a:t>(CaMeL is a strong second choice if you'd prefer to anchor on the broader "protective system layer" framing instead of the privilege-control mechanism — https://arxiv.org/abs/2503.18813)</a:t>
            </a:r>
          </a:p>
          <a:p/>
          <a:p>
            <a:r>
              <a:t>Top 5 paper links:</a:t>
            </a:r>
          </a:p>
          <a:p>
            <a:r>
              <a:t>1. CaMeL — https://arxiv.org/abs/2503.18813</a:t>
            </a:r>
          </a:p>
          <a:p>
            <a:r>
              <a:t>2. Progent — https://arxiv.org/abs/2504.11703</a:t>
            </a:r>
          </a:p>
          <a:p>
            <a:r>
              <a:t>3. AgentDojo — https://arxiv.org/abs/2406.13352</a:t>
            </a:r>
          </a:p>
          <a:p>
            <a:r>
              <a:t>4. DataSentinel — https://arxiv.org/abs/2504.11358</a:t>
            </a:r>
          </a:p>
          <a:p>
            <a:r>
              <a:t>5. IsolateGPT — https://arxiv.org/abs/2403.04960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051560"/>
            <a:ext cx="10515600" cy="914400"/>
          </a:xfrm>
          <a:prstGeom prst="rect">
            <a:avLst/>
          </a:prstGeom>
          <a:noFill/>
          <a:ln/>
        </p:spPr>
        <p:txBody>
          <a:bodyPr wrap="square" lIns="0" tIns="0" rIns="0" bIns="0" rtlCol="0" anchor="ctr"/>
          <a:lstStyle/>
          <a:p>
            <a:pPr algn="ctr" indent="0" marL="0">
              <a:buNone/>
            </a:pPr>
            <a:r>
              <a:rPr lang="en-US" sz="4000" b="1" dirty="0">
                <a:solidFill>
                  <a:srgbClr val="16202A"/>
                </a:solidFill>
                <a:latin typeface="Cambria" pitchFamily="34" charset="0"/>
                <a:ea typeface="Cambria" pitchFamily="34" charset="-122"/>
                <a:cs typeface="Cambria" pitchFamily="34" charset="-120"/>
              </a:rPr>
              <a:t>AI AGENT SECURITY GATEWAY</a:t>
            </a:r>
            <a:endParaRPr lang="en-US" sz="4000" dirty="0"/>
          </a:p>
        </p:txBody>
      </p:sp>
      <p:sp>
        <p:nvSpPr>
          <p:cNvPr id="3" name="Text 1"/>
          <p:cNvSpPr/>
          <p:nvPr/>
        </p:nvSpPr>
        <p:spPr>
          <a:xfrm>
            <a:off x="1280160" y="1965960"/>
            <a:ext cx="9601200" cy="822960"/>
          </a:xfrm>
          <a:prstGeom prst="rect">
            <a:avLst/>
          </a:prstGeom>
          <a:noFill/>
          <a:ln/>
        </p:spPr>
        <p:txBody>
          <a:bodyPr wrap="square" lIns="0" tIns="0" rIns="0" bIns="0" rtlCol="0" anchor="ctr"/>
          <a:lstStyle/>
          <a:p>
            <a:pPr algn="ctr" indent="0" marL="0">
              <a:lnSpc>
                <a:spcPct val="125000"/>
              </a:lnSpc>
              <a:buNone/>
            </a:pPr>
            <a:r>
              <a:rPr lang="en-US" sz="1550" dirty="0">
                <a:solidFill>
                  <a:srgbClr val="55606C"/>
                </a:solidFill>
                <a:latin typeface="Calibri" pitchFamily="34" charset="0"/>
                <a:ea typeface="Calibri" pitchFamily="34" charset="-122"/>
                <a:cs typeface="Calibri" pitchFamily="34" charset="-120"/>
              </a:rPr>
              <a:t>A Runtime Security Layer for Detecting Prompt Injection, Tool Poisoning,</a:t>
            </a:r>
            <a:endParaRPr lang="en-US" sz="1550" dirty="0"/>
          </a:p>
          <a:p>
            <a:pPr algn="ctr" indent="0" marL="0">
              <a:lnSpc>
                <a:spcPct val="125000"/>
              </a:lnSpc>
              <a:buNone/>
            </a:pPr>
            <a:r>
              <a:rPr lang="en-US" sz="1550" dirty="0">
                <a:solidFill>
                  <a:srgbClr val="55606C"/>
                </a:solidFill>
                <a:latin typeface="Calibri" pitchFamily="34" charset="0"/>
                <a:ea typeface="Calibri" pitchFamily="34" charset="-122"/>
                <a:cs typeface="Calibri" pitchFamily="34" charset="-120"/>
              </a:rPr>
              <a:t>Unauthorized Tool Use, and Runtime Threats Before AI Agents Execute Tool Calls</a:t>
            </a:r>
            <a:endParaRPr lang="en-US" sz="1550" dirty="0"/>
          </a:p>
        </p:txBody>
      </p:sp>
      <p:sp>
        <p:nvSpPr>
          <p:cNvPr id="4" name="Text 2"/>
          <p:cNvSpPr/>
          <p:nvPr/>
        </p:nvSpPr>
        <p:spPr>
          <a:xfrm>
            <a:off x="4265676" y="3246120"/>
            <a:ext cx="3657600" cy="365760"/>
          </a:xfrm>
          <a:prstGeom prst="rect">
            <a:avLst/>
          </a:prstGeom>
          <a:noFill/>
          <a:ln/>
        </p:spPr>
        <p:txBody>
          <a:bodyPr wrap="square" lIns="0" tIns="0" rIns="0" bIns="0" rtlCol="0" anchor="ctr"/>
          <a:lstStyle/>
          <a:p>
            <a:pPr algn="ctr" indent="0" marL="0">
              <a:buNone/>
            </a:pPr>
            <a:r>
              <a:rPr lang="en-US" sz="1600" b="1" dirty="0">
                <a:solidFill>
                  <a:srgbClr val="16202A"/>
                </a:solidFill>
                <a:latin typeface="Calibri" pitchFamily="34" charset="0"/>
                <a:ea typeface="Calibri" pitchFamily="34" charset="-122"/>
                <a:cs typeface="Calibri" pitchFamily="34" charset="-120"/>
              </a:rPr>
              <a:t>AI AGENT</a:t>
            </a:r>
            <a:endParaRPr lang="en-US" sz="1600" dirty="0"/>
          </a:p>
        </p:txBody>
      </p:sp>
      <p:sp>
        <p:nvSpPr>
          <p:cNvPr id="5" name="Shape 3"/>
          <p:cNvSpPr/>
          <p:nvPr/>
        </p:nvSpPr>
        <p:spPr>
          <a:xfrm>
            <a:off x="6094476" y="3639312"/>
            <a:ext cx="914" cy="384048"/>
          </a:xfrm>
          <a:prstGeom prst="line">
            <a:avLst/>
          </a:prstGeom>
          <a:noFill/>
          <a:ln w="19050">
            <a:solidFill>
              <a:srgbClr val="707B8A"/>
            </a:solidFill>
            <a:prstDash val="solid"/>
            <a:tailEnd type="triangle"/>
          </a:ln>
        </p:spPr>
      </p:sp>
      <p:sp>
        <p:nvSpPr>
          <p:cNvPr id="6" name="Shape 4"/>
          <p:cNvSpPr/>
          <p:nvPr/>
        </p:nvSpPr>
        <p:spPr>
          <a:xfrm>
            <a:off x="4082796" y="4069080"/>
            <a:ext cx="4023360" cy="566928"/>
          </a:xfrm>
          <a:prstGeom prst="roundRect">
            <a:avLst>
              <a:gd name="adj" fmla="val 9677"/>
            </a:avLst>
          </a:prstGeom>
          <a:solidFill>
            <a:srgbClr val="FFF6D9"/>
          </a:solidFill>
          <a:ln w="19050">
            <a:solidFill>
              <a:srgbClr val="F2B705"/>
            </a:solidFill>
            <a:prstDash val="solid"/>
          </a:ln>
        </p:spPr>
      </p:sp>
      <p:sp>
        <p:nvSpPr>
          <p:cNvPr id="7" name="Text 5"/>
          <p:cNvSpPr/>
          <p:nvPr/>
        </p:nvSpPr>
        <p:spPr>
          <a:xfrm>
            <a:off x="4082796" y="4069080"/>
            <a:ext cx="4023360" cy="566928"/>
          </a:xfrm>
          <a:prstGeom prst="rect">
            <a:avLst/>
          </a:prstGeom>
          <a:noFill/>
          <a:ln/>
        </p:spPr>
        <p:txBody>
          <a:bodyPr wrap="square" lIns="0" tIns="0" rIns="0" bIns="0" rtlCol="0" anchor="ctr"/>
          <a:lstStyle/>
          <a:p>
            <a:pPr algn="ctr" indent="0" marL="0">
              <a:buNone/>
            </a:pPr>
            <a:r>
              <a:rPr lang="en-US" sz="1800" b="1" spc="100" kern="0" dirty="0">
                <a:solidFill>
                  <a:srgbClr val="8A6D00"/>
                </a:solidFill>
                <a:latin typeface="Calibri" pitchFamily="34" charset="0"/>
                <a:ea typeface="Calibri" pitchFamily="34" charset="-122"/>
                <a:cs typeface="Calibri" pitchFamily="34" charset="-120"/>
              </a:rPr>
              <a:t>SECURITY GATEWAY</a:t>
            </a:r>
            <a:endParaRPr lang="en-US" sz="1800" dirty="0"/>
          </a:p>
        </p:txBody>
      </p:sp>
      <p:sp>
        <p:nvSpPr>
          <p:cNvPr id="8" name="Shape 6"/>
          <p:cNvSpPr/>
          <p:nvPr/>
        </p:nvSpPr>
        <p:spPr>
          <a:xfrm>
            <a:off x="6094476" y="4681728"/>
            <a:ext cx="914" cy="384048"/>
          </a:xfrm>
          <a:prstGeom prst="line">
            <a:avLst/>
          </a:prstGeom>
          <a:noFill/>
          <a:ln w="19050">
            <a:solidFill>
              <a:srgbClr val="707B8A"/>
            </a:solidFill>
            <a:prstDash val="solid"/>
            <a:tailEnd type="triangle"/>
          </a:ln>
        </p:spPr>
      </p:sp>
      <p:sp>
        <p:nvSpPr>
          <p:cNvPr id="9" name="Text 7"/>
          <p:cNvSpPr/>
          <p:nvPr/>
        </p:nvSpPr>
        <p:spPr>
          <a:xfrm>
            <a:off x="4082796" y="5120640"/>
            <a:ext cx="4023360" cy="365760"/>
          </a:xfrm>
          <a:prstGeom prst="rect">
            <a:avLst/>
          </a:prstGeom>
          <a:noFill/>
          <a:ln/>
        </p:spPr>
        <p:txBody>
          <a:bodyPr wrap="square" lIns="0" tIns="0" rIns="0" bIns="0" rtlCol="0" anchor="ctr"/>
          <a:lstStyle/>
          <a:p>
            <a:pPr algn="ctr" indent="0" marL="0">
              <a:buNone/>
            </a:pPr>
            <a:r>
              <a:rPr lang="en-US" sz="1500" spc="50" kern="0" dirty="0">
                <a:solidFill>
                  <a:srgbClr val="55606C"/>
                </a:solidFill>
                <a:latin typeface="Calibri" pitchFamily="34" charset="0"/>
                <a:ea typeface="Calibri" pitchFamily="34" charset="-122"/>
                <a:cs typeface="Calibri" pitchFamily="34" charset="-120"/>
              </a:rPr>
              <a:t>TOOLS  /  APIs  /  MCP</a:t>
            </a:r>
            <a:endParaRPr lang="en-US" sz="1500" dirty="0"/>
          </a:p>
        </p:txBody>
      </p:sp>
      <p:sp>
        <p:nvSpPr>
          <p:cNvPr id="10" name="Shape 8"/>
          <p:cNvSpPr/>
          <p:nvPr/>
        </p:nvSpPr>
        <p:spPr>
          <a:xfrm>
            <a:off x="3351276" y="5989320"/>
            <a:ext cx="5486400" cy="914"/>
          </a:xfrm>
          <a:prstGeom prst="line">
            <a:avLst/>
          </a:prstGeom>
          <a:noFill/>
          <a:ln w="12700">
            <a:solidFill>
              <a:srgbClr val="CDD5DF"/>
            </a:solidFill>
            <a:prstDash val="solid"/>
          </a:ln>
        </p:spPr>
      </p:sp>
      <p:sp>
        <p:nvSpPr>
          <p:cNvPr id="11" name="Text 9"/>
          <p:cNvSpPr/>
          <p:nvPr/>
        </p:nvSpPr>
        <p:spPr>
          <a:xfrm>
            <a:off x="1522476" y="6108192"/>
            <a:ext cx="9144000" cy="292608"/>
          </a:xfrm>
          <a:prstGeom prst="rect">
            <a:avLst/>
          </a:prstGeom>
          <a:noFill/>
          <a:ln/>
        </p:spPr>
        <p:txBody>
          <a:bodyPr wrap="square" lIns="0" tIns="0" rIns="0" bIns="0" rtlCol="0" anchor="ctr"/>
          <a:lstStyle/>
          <a:p>
            <a:pPr algn="ctr" indent="0" marL="0">
              <a:buNone/>
            </a:pPr>
            <a:r>
              <a:rPr lang="en-US" sz="1300" dirty="0">
                <a:solidFill>
                  <a:srgbClr val="16202A"/>
                </a:solidFill>
                <a:latin typeface="Calibri" pitchFamily="34" charset="0"/>
                <a:ea typeface="Calibri" pitchFamily="34" charset="-122"/>
                <a:cs typeface="Calibri" pitchFamily="34" charset="-120"/>
              </a:rPr>
              <a:t>Urval Kheni   |   24CE055   |   Department of Computer Engineering</a:t>
            </a:r>
            <a:endParaRPr lang="en-US" sz="1300" dirty="0"/>
          </a:p>
        </p:txBody>
      </p:sp>
      <p:sp>
        <p:nvSpPr>
          <p:cNvPr id="12" name="Text 10"/>
          <p:cNvSpPr/>
          <p:nvPr/>
        </p:nvSpPr>
        <p:spPr>
          <a:xfrm>
            <a:off x="1522476" y="6382512"/>
            <a:ext cx="9144000" cy="274320"/>
          </a:xfrm>
          <a:prstGeom prst="rect">
            <a:avLst/>
          </a:prstGeom>
          <a:noFill/>
          <a:ln/>
        </p:spPr>
        <p:txBody>
          <a:bodyPr wrap="square" lIns="0" tIns="0" rIns="0" bIns="0" rtlCol="0" anchor="ctr"/>
          <a:lstStyle/>
          <a:p>
            <a:pPr algn="ctr" indent="0" marL="0">
              <a:buNone/>
            </a:pPr>
            <a:r>
              <a:rPr lang="en-US" sz="1150" dirty="0">
                <a:solidFill>
                  <a:srgbClr val="707B8A"/>
                </a:solidFill>
                <a:latin typeface="Calibri" pitchFamily="34" charset="0"/>
                <a:ea typeface="Calibri" pitchFamily="34" charset="-122"/>
                <a:cs typeface="Calibri" pitchFamily="34" charset="-120"/>
              </a:rPr>
              <a:t>Introduction to Research Methodology   •   CHARUSAT – CSPIT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6202A"/>
                </a:solidFill>
                <a:latin typeface="Cambria" pitchFamily="34" charset="0"/>
                <a:ea typeface="Cambria" pitchFamily="34" charset="-122"/>
                <a:cs typeface="Cambria" pitchFamily="34" charset="-120"/>
              </a:rPr>
              <a:t>Why AI Agents Need a Security Gateway</a:t>
            </a:r>
            <a:endParaRPr lang="en-US" sz="3000" dirty="0"/>
          </a:p>
        </p:txBody>
      </p:sp>
      <p:sp>
        <p:nvSpPr>
          <p:cNvPr id="3" name="Text 1"/>
          <p:cNvSpPr/>
          <p:nvPr/>
        </p:nvSpPr>
        <p:spPr>
          <a:xfrm>
            <a:off x="10881360" y="6510528"/>
            <a:ext cx="914400" cy="274320"/>
          </a:xfrm>
          <a:prstGeom prst="rect">
            <a:avLst/>
          </a:prstGeom>
          <a:noFill/>
          <a:ln/>
        </p:spPr>
        <p:txBody>
          <a:bodyPr wrap="square" lIns="0" tIns="0" rIns="0" bIns="0" rtlCol="0" anchor="ctr"/>
          <a:lstStyle/>
          <a:p>
            <a:pPr algn="r" indent="0" marL="0">
              <a:buNone/>
            </a:pPr>
            <a:r>
              <a:rPr lang="en-US" sz="900" dirty="0">
                <a:solidFill>
                  <a:srgbClr val="707B8A"/>
                </a:solidFill>
                <a:latin typeface="Calibri" pitchFamily="34" charset="0"/>
                <a:ea typeface="Calibri" pitchFamily="34" charset="-122"/>
                <a:cs typeface="Calibri" pitchFamily="34" charset="-120"/>
              </a:rPr>
              <a:t>02 / 06</a:t>
            </a:r>
            <a:endParaRPr lang="en-US" sz="900" dirty="0"/>
          </a:p>
        </p:txBody>
      </p:sp>
      <p:sp>
        <p:nvSpPr>
          <p:cNvPr id="4" name="Text 2"/>
          <p:cNvSpPr/>
          <p:nvPr/>
        </p:nvSpPr>
        <p:spPr>
          <a:xfrm>
            <a:off x="548640" y="1143000"/>
            <a:ext cx="5212080" cy="365760"/>
          </a:xfrm>
          <a:prstGeom prst="rect">
            <a:avLst/>
          </a:prstGeom>
          <a:noFill/>
          <a:ln/>
        </p:spPr>
        <p:txBody>
          <a:bodyPr wrap="square" lIns="0" tIns="0" rIns="0" bIns="0" rtlCol="0" anchor="ctr"/>
          <a:lstStyle/>
          <a:p>
            <a:pPr indent="0" marL="0">
              <a:buNone/>
            </a:pPr>
            <a:r>
              <a:rPr lang="en-US" sz="1450" dirty="0">
                <a:solidFill>
                  <a:srgbClr val="55606C"/>
                </a:solidFill>
                <a:latin typeface="Calibri" pitchFamily="34" charset="0"/>
                <a:ea typeface="Calibri" pitchFamily="34" charset="-122"/>
                <a:cs typeface="Calibri" pitchFamily="34" charset="-120"/>
              </a:rPr>
              <a:t>Modern AI agents can autonomously interact with:</a:t>
            </a:r>
            <a:endParaRPr lang="en-US" sz="1450" dirty="0"/>
          </a:p>
        </p:txBody>
      </p:sp>
      <p:sp>
        <p:nvSpPr>
          <p:cNvPr id="5" name="Shape 3"/>
          <p:cNvSpPr/>
          <p:nvPr/>
        </p:nvSpPr>
        <p:spPr>
          <a:xfrm>
            <a:off x="594360" y="1682496"/>
            <a:ext cx="82296" cy="82296"/>
          </a:xfrm>
          <a:prstGeom prst="oval">
            <a:avLst/>
          </a:prstGeom>
          <a:solidFill>
            <a:srgbClr val="F2B705"/>
          </a:solidFill>
          <a:ln/>
        </p:spPr>
      </p:sp>
      <p:sp>
        <p:nvSpPr>
          <p:cNvPr id="6" name="Text 4"/>
          <p:cNvSpPr/>
          <p:nvPr/>
        </p:nvSpPr>
        <p:spPr>
          <a:xfrm>
            <a:off x="868680" y="1600200"/>
            <a:ext cx="4480560" cy="329184"/>
          </a:xfrm>
          <a:prstGeom prst="rect">
            <a:avLst/>
          </a:prstGeom>
          <a:noFill/>
          <a:ln/>
        </p:spPr>
        <p:txBody>
          <a:bodyPr wrap="square" lIns="0" tIns="0" rIns="0" bIns="0" rtlCol="0" anchor="ctr"/>
          <a:lstStyle/>
          <a:p>
            <a:pPr indent="0" marL="0">
              <a:buNone/>
            </a:pPr>
            <a:r>
              <a:rPr lang="en-US" sz="1450" dirty="0">
                <a:solidFill>
                  <a:srgbClr val="16202A"/>
                </a:solidFill>
                <a:latin typeface="Calibri" pitchFamily="34" charset="0"/>
                <a:ea typeface="Calibri" pitchFamily="34" charset="-122"/>
                <a:cs typeface="Calibri" pitchFamily="34" charset="-120"/>
              </a:rPr>
              <a:t>APIs</a:t>
            </a:r>
            <a:endParaRPr lang="en-US" sz="1450" dirty="0"/>
          </a:p>
        </p:txBody>
      </p:sp>
      <p:sp>
        <p:nvSpPr>
          <p:cNvPr id="7" name="Shape 5"/>
          <p:cNvSpPr/>
          <p:nvPr/>
        </p:nvSpPr>
        <p:spPr>
          <a:xfrm>
            <a:off x="594360" y="2084832"/>
            <a:ext cx="82296" cy="82296"/>
          </a:xfrm>
          <a:prstGeom prst="oval">
            <a:avLst/>
          </a:prstGeom>
          <a:solidFill>
            <a:srgbClr val="F2B705"/>
          </a:solidFill>
          <a:ln/>
        </p:spPr>
      </p:sp>
      <p:sp>
        <p:nvSpPr>
          <p:cNvPr id="8" name="Text 6"/>
          <p:cNvSpPr/>
          <p:nvPr/>
        </p:nvSpPr>
        <p:spPr>
          <a:xfrm>
            <a:off x="868680" y="2002536"/>
            <a:ext cx="4480560" cy="329184"/>
          </a:xfrm>
          <a:prstGeom prst="rect">
            <a:avLst/>
          </a:prstGeom>
          <a:noFill/>
          <a:ln/>
        </p:spPr>
        <p:txBody>
          <a:bodyPr wrap="square" lIns="0" tIns="0" rIns="0" bIns="0" rtlCol="0" anchor="ctr"/>
          <a:lstStyle/>
          <a:p>
            <a:pPr indent="0" marL="0">
              <a:buNone/>
            </a:pPr>
            <a:r>
              <a:rPr lang="en-US" sz="1450" dirty="0">
                <a:solidFill>
                  <a:srgbClr val="16202A"/>
                </a:solidFill>
                <a:latin typeface="Calibri" pitchFamily="34" charset="0"/>
                <a:ea typeface="Calibri" pitchFamily="34" charset="-122"/>
                <a:cs typeface="Calibri" pitchFamily="34" charset="-120"/>
              </a:rPr>
              <a:t>Databases</a:t>
            </a:r>
            <a:endParaRPr lang="en-US" sz="1450" dirty="0"/>
          </a:p>
        </p:txBody>
      </p:sp>
      <p:sp>
        <p:nvSpPr>
          <p:cNvPr id="9" name="Shape 7"/>
          <p:cNvSpPr/>
          <p:nvPr/>
        </p:nvSpPr>
        <p:spPr>
          <a:xfrm>
            <a:off x="594360" y="2487168"/>
            <a:ext cx="82296" cy="82296"/>
          </a:xfrm>
          <a:prstGeom prst="oval">
            <a:avLst/>
          </a:prstGeom>
          <a:solidFill>
            <a:srgbClr val="F2B705"/>
          </a:solidFill>
          <a:ln/>
        </p:spPr>
      </p:sp>
      <p:sp>
        <p:nvSpPr>
          <p:cNvPr id="10" name="Text 8"/>
          <p:cNvSpPr/>
          <p:nvPr/>
        </p:nvSpPr>
        <p:spPr>
          <a:xfrm>
            <a:off x="868680" y="2404872"/>
            <a:ext cx="4480560" cy="329184"/>
          </a:xfrm>
          <a:prstGeom prst="rect">
            <a:avLst/>
          </a:prstGeom>
          <a:noFill/>
          <a:ln/>
        </p:spPr>
        <p:txBody>
          <a:bodyPr wrap="square" lIns="0" tIns="0" rIns="0" bIns="0" rtlCol="0" anchor="ctr"/>
          <a:lstStyle/>
          <a:p>
            <a:pPr indent="0" marL="0">
              <a:buNone/>
            </a:pPr>
            <a:r>
              <a:rPr lang="en-US" sz="1450" dirty="0">
                <a:solidFill>
                  <a:srgbClr val="16202A"/>
                </a:solidFill>
                <a:latin typeface="Calibri" pitchFamily="34" charset="0"/>
                <a:ea typeface="Calibri" pitchFamily="34" charset="-122"/>
                <a:cs typeface="Calibri" pitchFamily="34" charset="-120"/>
              </a:rPr>
              <a:t>Web Services</a:t>
            </a:r>
            <a:endParaRPr lang="en-US" sz="1450" dirty="0"/>
          </a:p>
        </p:txBody>
      </p:sp>
      <p:sp>
        <p:nvSpPr>
          <p:cNvPr id="11" name="Shape 9"/>
          <p:cNvSpPr/>
          <p:nvPr/>
        </p:nvSpPr>
        <p:spPr>
          <a:xfrm>
            <a:off x="594360" y="2889504"/>
            <a:ext cx="82296" cy="82296"/>
          </a:xfrm>
          <a:prstGeom prst="oval">
            <a:avLst/>
          </a:prstGeom>
          <a:solidFill>
            <a:srgbClr val="F2B705"/>
          </a:solidFill>
          <a:ln/>
        </p:spPr>
      </p:sp>
      <p:sp>
        <p:nvSpPr>
          <p:cNvPr id="12" name="Text 10"/>
          <p:cNvSpPr/>
          <p:nvPr/>
        </p:nvSpPr>
        <p:spPr>
          <a:xfrm>
            <a:off x="868680" y="2807208"/>
            <a:ext cx="4480560" cy="329184"/>
          </a:xfrm>
          <a:prstGeom prst="rect">
            <a:avLst/>
          </a:prstGeom>
          <a:noFill/>
          <a:ln/>
        </p:spPr>
        <p:txBody>
          <a:bodyPr wrap="square" lIns="0" tIns="0" rIns="0" bIns="0" rtlCol="0" anchor="ctr"/>
          <a:lstStyle/>
          <a:p>
            <a:pPr indent="0" marL="0">
              <a:buNone/>
            </a:pPr>
            <a:r>
              <a:rPr lang="en-US" sz="1450" dirty="0">
                <a:solidFill>
                  <a:srgbClr val="16202A"/>
                </a:solidFill>
                <a:latin typeface="Calibri" pitchFamily="34" charset="0"/>
                <a:ea typeface="Calibri" pitchFamily="34" charset="-122"/>
                <a:cs typeface="Calibri" pitchFamily="34" charset="-120"/>
              </a:rPr>
              <a:t>Files</a:t>
            </a:r>
            <a:endParaRPr lang="en-US" sz="1450" dirty="0"/>
          </a:p>
        </p:txBody>
      </p:sp>
      <p:sp>
        <p:nvSpPr>
          <p:cNvPr id="13" name="Shape 11"/>
          <p:cNvSpPr/>
          <p:nvPr/>
        </p:nvSpPr>
        <p:spPr>
          <a:xfrm>
            <a:off x="594360" y="3291840"/>
            <a:ext cx="82296" cy="82296"/>
          </a:xfrm>
          <a:prstGeom prst="oval">
            <a:avLst/>
          </a:prstGeom>
          <a:solidFill>
            <a:srgbClr val="F2B705"/>
          </a:solidFill>
          <a:ln/>
        </p:spPr>
      </p:sp>
      <p:sp>
        <p:nvSpPr>
          <p:cNvPr id="14" name="Text 12"/>
          <p:cNvSpPr/>
          <p:nvPr/>
        </p:nvSpPr>
        <p:spPr>
          <a:xfrm>
            <a:off x="868680" y="3209544"/>
            <a:ext cx="4480560" cy="329184"/>
          </a:xfrm>
          <a:prstGeom prst="rect">
            <a:avLst/>
          </a:prstGeom>
          <a:noFill/>
          <a:ln/>
        </p:spPr>
        <p:txBody>
          <a:bodyPr wrap="square" lIns="0" tIns="0" rIns="0" bIns="0" rtlCol="0" anchor="ctr"/>
          <a:lstStyle/>
          <a:p>
            <a:pPr indent="0" marL="0">
              <a:buNone/>
            </a:pPr>
            <a:r>
              <a:rPr lang="en-US" sz="1450" dirty="0">
                <a:solidFill>
                  <a:srgbClr val="16202A"/>
                </a:solidFill>
                <a:latin typeface="Calibri" pitchFamily="34" charset="0"/>
                <a:ea typeface="Calibri" pitchFamily="34" charset="-122"/>
                <a:cs typeface="Calibri" pitchFamily="34" charset="-120"/>
              </a:rPr>
              <a:t>External Tools</a:t>
            </a:r>
            <a:endParaRPr lang="en-US" sz="1450" dirty="0"/>
          </a:p>
        </p:txBody>
      </p:sp>
      <p:sp>
        <p:nvSpPr>
          <p:cNvPr id="15" name="Text 13"/>
          <p:cNvSpPr/>
          <p:nvPr/>
        </p:nvSpPr>
        <p:spPr>
          <a:xfrm>
            <a:off x="548640" y="3776472"/>
            <a:ext cx="5212080" cy="365760"/>
          </a:xfrm>
          <a:prstGeom prst="rect">
            <a:avLst/>
          </a:prstGeom>
          <a:noFill/>
          <a:ln/>
        </p:spPr>
        <p:txBody>
          <a:bodyPr wrap="square" lIns="0" tIns="0" rIns="0" bIns="0" rtlCol="0" anchor="ctr"/>
          <a:lstStyle/>
          <a:p>
            <a:pPr indent="0" marL="0">
              <a:buNone/>
            </a:pPr>
            <a:r>
              <a:rPr lang="en-US" sz="1500" b="1" dirty="0">
                <a:solidFill>
                  <a:srgbClr val="8A6D00"/>
                </a:solidFill>
                <a:latin typeface="Calibri" pitchFamily="34" charset="0"/>
                <a:ea typeface="Calibri" pitchFamily="34" charset="-122"/>
                <a:cs typeface="Calibri" pitchFamily="34" charset="-120"/>
              </a:rPr>
              <a:t>This creates a new attack surface.</a:t>
            </a:r>
            <a:endParaRPr lang="en-US" sz="1500" dirty="0"/>
          </a:p>
        </p:txBody>
      </p:sp>
      <p:sp>
        <p:nvSpPr>
          <p:cNvPr id="16" name="Shape 14"/>
          <p:cNvSpPr/>
          <p:nvPr/>
        </p:nvSpPr>
        <p:spPr>
          <a:xfrm>
            <a:off x="6720840" y="1143000"/>
            <a:ext cx="4937760" cy="457200"/>
          </a:xfrm>
          <a:prstGeom prst="roundRect">
            <a:avLst>
              <a:gd name="adj" fmla="val 10000"/>
            </a:avLst>
          </a:prstGeom>
          <a:solidFill>
            <a:srgbClr val="F3F5F8"/>
          </a:solidFill>
          <a:ln w="12700">
            <a:solidFill>
              <a:srgbClr val="CDD5DF"/>
            </a:solidFill>
            <a:prstDash val="solid"/>
          </a:ln>
        </p:spPr>
      </p:sp>
      <p:sp>
        <p:nvSpPr>
          <p:cNvPr id="17" name="Text 15"/>
          <p:cNvSpPr/>
          <p:nvPr/>
        </p:nvSpPr>
        <p:spPr>
          <a:xfrm>
            <a:off x="6720840" y="1143000"/>
            <a:ext cx="4937760" cy="457200"/>
          </a:xfrm>
          <a:prstGeom prst="rect">
            <a:avLst/>
          </a:prstGeom>
          <a:noFill/>
          <a:ln/>
        </p:spPr>
        <p:txBody>
          <a:bodyPr wrap="square" lIns="0" tIns="0" rIns="0" bIns="0" rtlCol="0" anchor="ctr"/>
          <a:lstStyle/>
          <a:p>
            <a:pPr algn="ctr" indent="0" marL="0">
              <a:buNone/>
            </a:pPr>
            <a:r>
              <a:rPr lang="en-US" sz="1350" dirty="0">
                <a:solidFill>
                  <a:srgbClr val="16202A"/>
                </a:solidFill>
                <a:latin typeface="Calibri" pitchFamily="34" charset="0"/>
                <a:ea typeface="Calibri" pitchFamily="34" charset="-122"/>
                <a:cs typeface="Calibri" pitchFamily="34" charset="-120"/>
              </a:rPr>
              <a:t>Untrusted Content</a:t>
            </a:r>
            <a:endParaRPr lang="en-US" sz="1350" dirty="0"/>
          </a:p>
        </p:txBody>
      </p:sp>
      <p:sp>
        <p:nvSpPr>
          <p:cNvPr id="18" name="Shape 16"/>
          <p:cNvSpPr/>
          <p:nvPr/>
        </p:nvSpPr>
        <p:spPr>
          <a:xfrm>
            <a:off x="9189720" y="1627632"/>
            <a:ext cx="914" cy="155448"/>
          </a:xfrm>
          <a:prstGeom prst="line">
            <a:avLst/>
          </a:prstGeom>
          <a:noFill/>
          <a:ln w="19050">
            <a:solidFill>
              <a:srgbClr val="707B8A"/>
            </a:solidFill>
            <a:prstDash val="solid"/>
            <a:tailEnd type="triangle"/>
          </a:ln>
        </p:spPr>
      </p:sp>
      <p:sp>
        <p:nvSpPr>
          <p:cNvPr id="19" name="Shape 17"/>
          <p:cNvSpPr/>
          <p:nvPr/>
        </p:nvSpPr>
        <p:spPr>
          <a:xfrm>
            <a:off x="6720840" y="1801368"/>
            <a:ext cx="4937760" cy="457200"/>
          </a:xfrm>
          <a:prstGeom prst="roundRect">
            <a:avLst>
              <a:gd name="adj" fmla="val 10000"/>
            </a:avLst>
          </a:prstGeom>
          <a:solidFill>
            <a:srgbClr val="FDECEA"/>
          </a:solidFill>
          <a:ln w="12700">
            <a:solidFill>
              <a:srgbClr val="D64541"/>
            </a:solidFill>
            <a:prstDash val="solid"/>
          </a:ln>
        </p:spPr>
      </p:sp>
      <p:sp>
        <p:nvSpPr>
          <p:cNvPr id="20" name="Text 18"/>
          <p:cNvSpPr/>
          <p:nvPr/>
        </p:nvSpPr>
        <p:spPr>
          <a:xfrm>
            <a:off x="6720840" y="1801368"/>
            <a:ext cx="4937760" cy="457200"/>
          </a:xfrm>
          <a:prstGeom prst="rect">
            <a:avLst/>
          </a:prstGeom>
          <a:noFill/>
          <a:ln/>
        </p:spPr>
        <p:txBody>
          <a:bodyPr wrap="square" lIns="0" tIns="0" rIns="0" bIns="0" rtlCol="0" anchor="ctr"/>
          <a:lstStyle/>
          <a:p>
            <a:pPr algn="ctr" indent="0" marL="0">
              <a:buNone/>
            </a:pPr>
            <a:r>
              <a:rPr lang="en-US" sz="1350" b="1" dirty="0">
                <a:solidFill>
                  <a:srgbClr val="C0392B"/>
                </a:solidFill>
                <a:latin typeface="Calibri" pitchFamily="34" charset="0"/>
                <a:ea typeface="Calibri" pitchFamily="34" charset="-122"/>
                <a:cs typeface="Calibri" pitchFamily="34" charset="-120"/>
              </a:rPr>
              <a:t>Prompt Injection / Tool Poisoning</a:t>
            </a:r>
            <a:endParaRPr lang="en-US" sz="1350" dirty="0"/>
          </a:p>
        </p:txBody>
      </p:sp>
      <p:sp>
        <p:nvSpPr>
          <p:cNvPr id="21" name="Shape 19"/>
          <p:cNvSpPr/>
          <p:nvPr/>
        </p:nvSpPr>
        <p:spPr>
          <a:xfrm>
            <a:off x="9189720" y="2286000"/>
            <a:ext cx="914" cy="155448"/>
          </a:xfrm>
          <a:prstGeom prst="line">
            <a:avLst/>
          </a:prstGeom>
          <a:noFill/>
          <a:ln w="19050">
            <a:solidFill>
              <a:srgbClr val="707B8A"/>
            </a:solidFill>
            <a:prstDash val="solid"/>
            <a:tailEnd type="triangle"/>
          </a:ln>
        </p:spPr>
      </p:sp>
      <p:sp>
        <p:nvSpPr>
          <p:cNvPr id="22" name="Shape 20"/>
          <p:cNvSpPr/>
          <p:nvPr/>
        </p:nvSpPr>
        <p:spPr>
          <a:xfrm>
            <a:off x="6720840" y="2459736"/>
            <a:ext cx="4937760" cy="457200"/>
          </a:xfrm>
          <a:prstGeom prst="roundRect">
            <a:avLst>
              <a:gd name="adj" fmla="val 10000"/>
            </a:avLst>
          </a:prstGeom>
          <a:solidFill>
            <a:srgbClr val="F3F5F8"/>
          </a:solidFill>
          <a:ln w="12700">
            <a:solidFill>
              <a:srgbClr val="CDD5DF"/>
            </a:solidFill>
            <a:prstDash val="solid"/>
          </a:ln>
        </p:spPr>
      </p:sp>
      <p:sp>
        <p:nvSpPr>
          <p:cNvPr id="23" name="Text 21"/>
          <p:cNvSpPr/>
          <p:nvPr/>
        </p:nvSpPr>
        <p:spPr>
          <a:xfrm>
            <a:off x="6720840" y="2459736"/>
            <a:ext cx="4937760" cy="457200"/>
          </a:xfrm>
          <a:prstGeom prst="rect">
            <a:avLst/>
          </a:prstGeom>
          <a:noFill/>
          <a:ln/>
        </p:spPr>
        <p:txBody>
          <a:bodyPr wrap="square" lIns="0" tIns="0" rIns="0" bIns="0" rtlCol="0" anchor="ctr"/>
          <a:lstStyle/>
          <a:p>
            <a:pPr algn="ctr" indent="0" marL="0">
              <a:buNone/>
            </a:pPr>
            <a:r>
              <a:rPr lang="en-US" sz="1350" dirty="0">
                <a:solidFill>
                  <a:srgbClr val="16202A"/>
                </a:solidFill>
                <a:latin typeface="Calibri" pitchFamily="34" charset="0"/>
                <a:ea typeface="Calibri" pitchFamily="34" charset="-122"/>
                <a:cs typeface="Calibri" pitchFamily="34" charset="-120"/>
              </a:rPr>
              <a:t>AI Agent</a:t>
            </a:r>
            <a:endParaRPr lang="en-US" sz="1350" dirty="0"/>
          </a:p>
        </p:txBody>
      </p:sp>
      <p:sp>
        <p:nvSpPr>
          <p:cNvPr id="24" name="Shape 22"/>
          <p:cNvSpPr/>
          <p:nvPr/>
        </p:nvSpPr>
        <p:spPr>
          <a:xfrm>
            <a:off x="9189720" y="2944368"/>
            <a:ext cx="914" cy="155448"/>
          </a:xfrm>
          <a:prstGeom prst="line">
            <a:avLst/>
          </a:prstGeom>
          <a:noFill/>
          <a:ln w="19050">
            <a:solidFill>
              <a:srgbClr val="707B8A"/>
            </a:solidFill>
            <a:prstDash val="solid"/>
            <a:tailEnd type="triangle"/>
          </a:ln>
        </p:spPr>
      </p:sp>
      <p:sp>
        <p:nvSpPr>
          <p:cNvPr id="25" name="Shape 23"/>
          <p:cNvSpPr/>
          <p:nvPr/>
        </p:nvSpPr>
        <p:spPr>
          <a:xfrm>
            <a:off x="6720840" y="3118104"/>
            <a:ext cx="4937760" cy="457200"/>
          </a:xfrm>
          <a:prstGeom prst="roundRect">
            <a:avLst>
              <a:gd name="adj" fmla="val 10000"/>
            </a:avLst>
          </a:prstGeom>
          <a:solidFill>
            <a:srgbClr val="FDECEA"/>
          </a:solidFill>
          <a:ln w="12700">
            <a:solidFill>
              <a:srgbClr val="D64541"/>
            </a:solidFill>
            <a:prstDash val="solid"/>
          </a:ln>
        </p:spPr>
      </p:sp>
      <p:sp>
        <p:nvSpPr>
          <p:cNvPr id="26" name="Text 24"/>
          <p:cNvSpPr/>
          <p:nvPr/>
        </p:nvSpPr>
        <p:spPr>
          <a:xfrm>
            <a:off x="6720840" y="3118104"/>
            <a:ext cx="4937760" cy="457200"/>
          </a:xfrm>
          <a:prstGeom prst="rect">
            <a:avLst/>
          </a:prstGeom>
          <a:noFill/>
          <a:ln/>
        </p:spPr>
        <p:txBody>
          <a:bodyPr wrap="square" lIns="0" tIns="0" rIns="0" bIns="0" rtlCol="0" anchor="ctr"/>
          <a:lstStyle/>
          <a:p>
            <a:pPr algn="ctr" indent="0" marL="0">
              <a:buNone/>
            </a:pPr>
            <a:r>
              <a:rPr lang="en-US" sz="1350" b="1" dirty="0">
                <a:solidFill>
                  <a:srgbClr val="C0392B"/>
                </a:solidFill>
                <a:latin typeface="Calibri" pitchFamily="34" charset="0"/>
                <a:ea typeface="Calibri" pitchFamily="34" charset="-122"/>
                <a:cs typeface="Calibri" pitchFamily="34" charset="-120"/>
              </a:rPr>
              <a:t>Malicious Tool Call</a:t>
            </a:r>
            <a:endParaRPr lang="en-US" sz="1350" dirty="0"/>
          </a:p>
        </p:txBody>
      </p:sp>
      <p:sp>
        <p:nvSpPr>
          <p:cNvPr id="27" name="Shape 25"/>
          <p:cNvSpPr/>
          <p:nvPr/>
        </p:nvSpPr>
        <p:spPr>
          <a:xfrm>
            <a:off x="9189720" y="3602736"/>
            <a:ext cx="914" cy="155448"/>
          </a:xfrm>
          <a:prstGeom prst="line">
            <a:avLst/>
          </a:prstGeom>
          <a:noFill/>
          <a:ln w="19050">
            <a:solidFill>
              <a:srgbClr val="707B8A"/>
            </a:solidFill>
            <a:prstDash val="solid"/>
            <a:tailEnd type="triangle"/>
          </a:ln>
        </p:spPr>
      </p:sp>
      <p:sp>
        <p:nvSpPr>
          <p:cNvPr id="28" name="Shape 26"/>
          <p:cNvSpPr/>
          <p:nvPr/>
        </p:nvSpPr>
        <p:spPr>
          <a:xfrm>
            <a:off x="6720840" y="3776472"/>
            <a:ext cx="4937760" cy="457200"/>
          </a:xfrm>
          <a:prstGeom prst="roundRect">
            <a:avLst>
              <a:gd name="adj" fmla="val 10000"/>
            </a:avLst>
          </a:prstGeom>
          <a:solidFill>
            <a:srgbClr val="F3F5F8"/>
          </a:solidFill>
          <a:ln w="12700">
            <a:solidFill>
              <a:srgbClr val="CDD5DF"/>
            </a:solidFill>
            <a:prstDash val="solid"/>
          </a:ln>
        </p:spPr>
      </p:sp>
      <p:sp>
        <p:nvSpPr>
          <p:cNvPr id="29" name="Text 27"/>
          <p:cNvSpPr/>
          <p:nvPr/>
        </p:nvSpPr>
        <p:spPr>
          <a:xfrm>
            <a:off x="6720840" y="3776472"/>
            <a:ext cx="4937760" cy="457200"/>
          </a:xfrm>
          <a:prstGeom prst="rect">
            <a:avLst/>
          </a:prstGeom>
          <a:noFill/>
          <a:ln/>
        </p:spPr>
        <p:txBody>
          <a:bodyPr wrap="square" lIns="0" tIns="0" rIns="0" bIns="0" rtlCol="0" anchor="ctr"/>
          <a:lstStyle/>
          <a:p>
            <a:pPr algn="ctr" indent="0" marL="0">
              <a:buNone/>
            </a:pPr>
            <a:r>
              <a:rPr lang="en-US" sz="1350" dirty="0">
                <a:solidFill>
                  <a:srgbClr val="16202A"/>
                </a:solidFill>
                <a:latin typeface="Calibri" pitchFamily="34" charset="0"/>
                <a:ea typeface="Calibri" pitchFamily="34" charset="-122"/>
                <a:cs typeface="Calibri" pitchFamily="34" charset="-120"/>
              </a:rPr>
              <a:t>External System</a:t>
            </a:r>
            <a:endParaRPr lang="en-US" sz="1350" dirty="0"/>
          </a:p>
        </p:txBody>
      </p:sp>
      <p:sp>
        <p:nvSpPr>
          <p:cNvPr id="30" name="Shape 28"/>
          <p:cNvSpPr/>
          <p:nvPr/>
        </p:nvSpPr>
        <p:spPr>
          <a:xfrm>
            <a:off x="548640" y="4892040"/>
            <a:ext cx="11091672" cy="777240"/>
          </a:xfrm>
          <a:prstGeom prst="roundRect">
            <a:avLst>
              <a:gd name="adj" fmla="val 7059"/>
            </a:avLst>
          </a:prstGeom>
          <a:solidFill>
            <a:srgbClr val="F3F5F8"/>
          </a:solidFill>
          <a:ln w="12700">
            <a:solidFill>
              <a:srgbClr val="F2B705"/>
            </a:solidFill>
            <a:prstDash val="solid"/>
          </a:ln>
        </p:spPr>
      </p:sp>
      <p:sp>
        <p:nvSpPr>
          <p:cNvPr id="31" name="Text 29"/>
          <p:cNvSpPr/>
          <p:nvPr/>
        </p:nvSpPr>
        <p:spPr>
          <a:xfrm>
            <a:off x="822960" y="4892040"/>
            <a:ext cx="10515600" cy="777240"/>
          </a:xfrm>
          <a:prstGeom prst="rect">
            <a:avLst/>
          </a:prstGeom>
          <a:noFill/>
          <a:ln/>
        </p:spPr>
        <p:txBody>
          <a:bodyPr wrap="square" lIns="0" tIns="0" rIns="0" bIns="0" rtlCol="0" anchor="ctr"/>
          <a:lstStyle/>
          <a:p>
            <a:pPr algn="ctr" indent="0" marL="0">
              <a:buNone/>
            </a:pPr>
            <a:r>
              <a:rPr lang="en-US" sz="1500" i="1" dirty="0">
                <a:solidFill>
                  <a:srgbClr val="16202A"/>
                </a:solidFill>
                <a:latin typeface="Calibri" pitchFamily="34" charset="0"/>
                <a:ea typeface="Calibri" pitchFamily="34" charset="-122"/>
                <a:cs typeface="Calibri" pitchFamily="34" charset="-120"/>
              </a:rPr>
              <a:t>“Most existing defenses protect individual layers rather than the complete tool-execution pipeline.”</a:t>
            </a:r>
            <a:endParaRPr lang="en-US" sz="1500" dirty="0"/>
          </a:p>
        </p:txBody>
      </p:sp>
      <p:sp>
        <p:nvSpPr>
          <p:cNvPr id="32" name="Shape 30"/>
          <p:cNvSpPr/>
          <p:nvPr/>
        </p:nvSpPr>
        <p:spPr>
          <a:xfrm>
            <a:off x="635508" y="5943600"/>
            <a:ext cx="2606040" cy="420624"/>
          </a:xfrm>
          <a:prstGeom prst="roundRect">
            <a:avLst>
              <a:gd name="adj" fmla="val 50000"/>
            </a:avLst>
          </a:prstGeom>
          <a:solidFill>
            <a:srgbClr val="FFF6D9"/>
          </a:solidFill>
          <a:ln w="12700">
            <a:solidFill>
              <a:srgbClr val="F2B705"/>
            </a:solidFill>
            <a:prstDash val="solid"/>
          </a:ln>
        </p:spPr>
      </p:sp>
      <p:sp>
        <p:nvSpPr>
          <p:cNvPr id="33" name="Text 31"/>
          <p:cNvSpPr/>
          <p:nvPr/>
        </p:nvSpPr>
        <p:spPr>
          <a:xfrm>
            <a:off x="635508" y="5943600"/>
            <a:ext cx="2606040" cy="420624"/>
          </a:xfrm>
          <a:prstGeom prst="rect">
            <a:avLst/>
          </a:prstGeom>
          <a:noFill/>
          <a:ln/>
        </p:spPr>
        <p:txBody>
          <a:bodyPr wrap="square" lIns="0" tIns="0" rIns="0" bIns="0" rtlCol="0" anchor="ctr"/>
          <a:lstStyle/>
          <a:p>
            <a:pPr algn="ctr" indent="0" marL="0">
              <a:buNone/>
            </a:pPr>
            <a:r>
              <a:rPr lang="en-US" sz="1150" b="1" dirty="0">
                <a:solidFill>
                  <a:srgbClr val="8A6D00"/>
                </a:solidFill>
                <a:latin typeface="Calibri" pitchFamily="34" charset="0"/>
                <a:ea typeface="Calibri" pitchFamily="34" charset="-122"/>
                <a:cs typeface="Calibri" pitchFamily="34" charset="-120"/>
              </a:rPr>
              <a:t>Prompt Injection</a:t>
            </a:r>
            <a:endParaRPr lang="en-US" sz="1150" dirty="0"/>
          </a:p>
        </p:txBody>
      </p:sp>
      <p:sp>
        <p:nvSpPr>
          <p:cNvPr id="34" name="Shape 32"/>
          <p:cNvSpPr/>
          <p:nvPr/>
        </p:nvSpPr>
        <p:spPr>
          <a:xfrm>
            <a:off x="3406140" y="5943600"/>
            <a:ext cx="2606040" cy="420624"/>
          </a:xfrm>
          <a:prstGeom prst="roundRect">
            <a:avLst>
              <a:gd name="adj" fmla="val 50000"/>
            </a:avLst>
          </a:prstGeom>
          <a:solidFill>
            <a:srgbClr val="FFF6D9"/>
          </a:solidFill>
          <a:ln w="12700">
            <a:solidFill>
              <a:srgbClr val="F2B705"/>
            </a:solidFill>
            <a:prstDash val="solid"/>
          </a:ln>
        </p:spPr>
      </p:sp>
      <p:sp>
        <p:nvSpPr>
          <p:cNvPr id="35" name="Text 33"/>
          <p:cNvSpPr/>
          <p:nvPr/>
        </p:nvSpPr>
        <p:spPr>
          <a:xfrm>
            <a:off x="3406140" y="5943600"/>
            <a:ext cx="2606040" cy="420624"/>
          </a:xfrm>
          <a:prstGeom prst="rect">
            <a:avLst/>
          </a:prstGeom>
          <a:noFill/>
          <a:ln/>
        </p:spPr>
        <p:txBody>
          <a:bodyPr wrap="square" lIns="0" tIns="0" rIns="0" bIns="0" rtlCol="0" anchor="ctr"/>
          <a:lstStyle/>
          <a:p>
            <a:pPr algn="ctr" indent="0" marL="0">
              <a:buNone/>
            </a:pPr>
            <a:r>
              <a:rPr lang="en-US" sz="1150" b="1" dirty="0">
                <a:solidFill>
                  <a:srgbClr val="8A6D00"/>
                </a:solidFill>
                <a:latin typeface="Calibri" pitchFamily="34" charset="0"/>
                <a:ea typeface="Calibri" pitchFamily="34" charset="-122"/>
                <a:cs typeface="Calibri" pitchFamily="34" charset="-120"/>
              </a:rPr>
              <a:t>Tool Poisoning</a:t>
            </a:r>
            <a:endParaRPr lang="en-US" sz="1150" dirty="0"/>
          </a:p>
        </p:txBody>
      </p:sp>
      <p:sp>
        <p:nvSpPr>
          <p:cNvPr id="36" name="Shape 34"/>
          <p:cNvSpPr/>
          <p:nvPr/>
        </p:nvSpPr>
        <p:spPr>
          <a:xfrm>
            <a:off x="6176772" y="5943600"/>
            <a:ext cx="2606040" cy="420624"/>
          </a:xfrm>
          <a:prstGeom prst="roundRect">
            <a:avLst>
              <a:gd name="adj" fmla="val 50000"/>
            </a:avLst>
          </a:prstGeom>
          <a:solidFill>
            <a:srgbClr val="FFF6D9"/>
          </a:solidFill>
          <a:ln w="12700">
            <a:solidFill>
              <a:srgbClr val="F2B705"/>
            </a:solidFill>
            <a:prstDash val="solid"/>
          </a:ln>
        </p:spPr>
      </p:sp>
      <p:sp>
        <p:nvSpPr>
          <p:cNvPr id="37" name="Text 35"/>
          <p:cNvSpPr/>
          <p:nvPr/>
        </p:nvSpPr>
        <p:spPr>
          <a:xfrm>
            <a:off x="6176772" y="5943600"/>
            <a:ext cx="2606040" cy="420624"/>
          </a:xfrm>
          <a:prstGeom prst="rect">
            <a:avLst/>
          </a:prstGeom>
          <a:noFill/>
          <a:ln/>
        </p:spPr>
        <p:txBody>
          <a:bodyPr wrap="square" lIns="0" tIns="0" rIns="0" bIns="0" rtlCol="0" anchor="ctr"/>
          <a:lstStyle/>
          <a:p>
            <a:pPr algn="ctr" indent="0" marL="0">
              <a:buNone/>
            </a:pPr>
            <a:r>
              <a:rPr lang="en-US" sz="1150" b="1" dirty="0">
                <a:solidFill>
                  <a:srgbClr val="8A6D00"/>
                </a:solidFill>
                <a:latin typeface="Calibri" pitchFamily="34" charset="0"/>
                <a:ea typeface="Calibri" pitchFamily="34" charset="-122"/>
                <a:cs typeface="Calibri" pitchFamily="34" charset="-120"/>
              </a:rPr>
              <a:t>Unauthorized Tool Use</a:t>
            </a:r>
            <a:endParaRPr lang="en-US" sz="1150" dirty="0"/>
          </a:p>
        </p:txBody>
      </p:sp>
      <p:sp>
        <p:nvSpPr>
          <p:cNvPr id="38" name="Shape 36"/>
          <p:cNvSpPr/>
          <p:nvPr/>
        </p:nvSpPr>
        <p:spPr>
          <a:xfrm>
            <a:off x="8947404" y="5943600"/>
            <a:ext cx="2606040" cy="420624"/>
          </a:xfrm>
          <a:prstGeom prst="roundRect">
            <a:avLst>
              <a:gd name="adj" fmla="val 50000"/>
            </a:avLst>
          </a:prstGeom>
          <a:solidFill>
            <a:srgbClr val="FFF6D9"/>
          </a:solidFill>
          <a:ln w="12700">
            <a:solidFill>
              <a:srgbClr val="F2B705"/>
            </a:solidFill>
            <a:prstDash val="solid"/>
          </a:ln>
        </p:spPr>
      </p:sp>
      <p:sp>
        <p:nvSpPr>
          <p:cNvPr id="39" name="Text 37"/>
          <p:cNvSpPr/>
          <p:nvPr/>
        </p:nvSpPr>
        <p:spPr>
          <a:xfrm>
            <a:off x="8947404" y="5943600"/>
            <a:ext cx="2606040" cy="420624"/>
          </a:xfrm>
          <a:prstGeom prst="rect">
            <a:avLst/>
          </a:prstGeom>
          <a:noFill/>
          <a:ln/>
        </p:spPr>
        <p:txBody>
          <a:bodyPr wrap="square" lIns="0" tIns="0" rIns="0" bIns="0" rtlCol="0" anchor="ctr"/>
          <a:lstStyle/>
          <a:p>
            <a:pPr algn="ctr" indent="0" marL="0">
              <a:buNone/>
            </a:pPr>
            <a:r>
              <a:rPr lang="en-US" sz="1150" b="1" dirty="0">
                <a:solidFill>
                  <a:srgbClr val="8A6D00"/>
                </a:solidFill>
                <a:latin typeface="Calibri" pitchFamily="34" charset="0"/>
                <a:ea typeface="Calibri" pitchFamily="34" charset="-122"/>
                <a:cs typeface="Calibri" pitchFamily="34" charset="-120"/>
              </a:rPr>
              <a:t>Runtime Manipulation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6202A"/>
                </a:solidFill>
                <a:latin typeface="Cambria" pitchFamily="34" charset="0"/>
                <a:ea typeface="Cambria" pitchFamily="34" charset="-122"/>
                <a:cs typeface="Cambria" pitchFamily="34" charset="-120"/>
              </a:rPr>
              <a:t>Research Gap</a:t>
            </a:r>
            <a:endParaRPr lang="en-US" sz="3000" dirty="0"/>
          </a:p>
        </p:txBody>
      </p:sp>
      <p:sp>
        <p:nvSpPr>
          <p:cNvPr id="3" name="Text 1"/>
          <p:cNvSpPr/>
          <p:nvPr/>
        </p:nvSpPr>
        <p:spPr>
          <a:xfrm>
            <a:off x="10881360" y="6510528"/>
            <a:ext cx="914400" cy="274320"/>
          </a:xfrm>
          <a:prstGeom prst="rect">
            <a:avLst/>
          </a:prstGeom>
          <a:noFill/>
          <a:ln/>
        </p:spPr>
        <p:txBody>
          <a:bodyPr wrap="square" lIns="0" tIns="0" rIns="0" bIns="0" rtlCol="0" anchor="ctr"/>
          <a:lstStyle/>
          <a:p>
            <a:pPr algn="r" indent="0" marL="0">
              <a:buNone/>
            </a:pPr>
            <a:r>
              <a:rPr lang="en-US" sz="900" dirty="0">
                <a:solidFill>
                  <a:srgbClr val="707B8A"/>
                </a:solidFill>
                <a:latin typeface="Calibri" pitchFamily="34" charset="0"/>
                <a:ea typeface="Calibri" pitchFamily="34" charset="-122"/>
                <a:cs typeface="Calibri" pitchFamily="34" charset="-120"/>
              </a:rPr>
              <a:t>03 / 06</a:t>
            </a:r>
            <a:endParaRPr lang="en-US" sz="900" dirty="0"/>
          </a:p>
        </p:txBody>
      </p:sp>
      <p:sp>
        <p:nvSpPr>
          <p:cNvPr id="4" name="Text 2"/>
          <p:cNvSpPr/>
          <p:nvPr/>
        </p:nvSpPr>
        <p:spPr>
          <a:xfrm>
            <a:off x="548640" y="932688"/>
            <a:ext cx="11064240" cy="320040"/>
          </a:xfrm>
          <a:prstGeom prst="rect">
            <a:avLst/>
          </a:prstGeom>
          <a:noFill/>
          <a:ln/>
        </p:spPr>
        <p:txBody>
          <a:bodyPr wrap="square" lIns="0" tIns="0" rIns="0" bIns="0" rtlCol="0" anchor="ctr"/>
          <a:lstStyle/>
          <a:p>
            <a:pPr indent="0" marL="0">
              <a:buNone/>
            </a:pPr>
            <a:r>
              <a:rPr lang="en-US" sz="1300" dirty="0">
                <a:solidFill>
                  <a:srgbClr val="55606C"/>
                </a:solidFill>
                <a:latin typeface="Calibri" pitchFamily="34" charset="0"/>
                <a:ea typeface="Calibri" pitchFamily="34" charset="-122"/>
                <a:cs typeface="Calibri" pitchFamily="34" charset="-120"/>
              </a:rPr>
              <a:t>The literature shows strong progress, but current defenses remain fragmented across the tool-execution pipeline.</a:t>
            </a:r>
            <a:endParaRPr lang="en-US" sz="1300" dirty="0"/>
          </a:p>
        </p:txBody>
      </p:sp>
      <p:sp>
        <p:nvSpPr>
          <p:cNvPr id="5" name="Shape 3"/>
          <p:cNvSpPr/>
          <p:nvPr/>
        </p:nvSpPr>
        <p:spPr>
          <a:xfrm>
            <a:off x="548640" y="1371600"/>
            <a:ext cx="5349240" cy="566928"/>
          </a:xfrm>
          <a:prstGeom prst="roundRect">
            <a:avLst>
              <a:gd name="adj" fmla="val 8065"/>
            </a:avLst>
          </a:prstGeom>
          <a:solidFill>
            <a:srgbClr val="F3F5F8"/>
          </a:solidFill>
          <a:ln w="9525">
            <a:solidFill>
              <a:srgbClr val="CDD5DF"/>
            </a:solidFill>
            <a:prstDash val="solid"/>
          </a:ln>
        </p:spPr>
      </p:sp>
      <p:sp>
        <p:nvSpPr>
          <p:cNvPr id="6" name="Text 4"/>
          <p:cNvSpPr/>
          <p:nvPr/>
        </p:nvSpPr>
        <p:spPr>
          <a:xfrm>
            <a:off x="713232" y="1371600"/>
            <a:ext cx="1554480" cy="566928"/>
          </a:xfrm>
          <a:prstGeom prst="rect">
            <a:avLst/>
          </a:prstGeom>
          <a:noFill/>
          <a:ln/>
        </p:spPr>
        <p:txBody>
          <a:bodyPr wrap="square" lIns="0" tIns="0" rIns="0" bIns="0" rtlCol="0" anchor="ctr"/>
          <a:lstStyle/>
          <a:p>
            <a:pPr algn="l" indent="0" marL="0">
              <a:buNone/>
            </a:pPr>
            <a:r>
              <a:rPr lang="en-US" sz="1400" b="1" dirty="0">
                <a:solidFill>
                  <a:srgbClr val="8A6D00"/>
                </a:solidFill>
                <a:latin typeface="Calibri" pitchFamily="34" charset="0"/>
                <a:ea typeface="Calibri" pitchFamily="34" charset="-122"/>
                <a:cs typeface="Calibri" pitchFamily="34" charset="-120"/>
              </a:rPr>
              <a:t>CaMeL</a:t>
            </a:r>
            <a:endParaRPr lang="en-US" sz="1400" dirty="0"/>
          </a:p>
        </p:txBody>
      </p:sp>
      <p:sp>
        <p:nvSpPr>
          <p:cNvPr id="7" name="Text 5"/>
          <p:cNvSpPr/>
          <p:nvPr/>
        </p:nvSpPr>
        <p:spPr>
          <a:xfrm>
            <a:off x="2240280" y="1371600"/>
            <a:ext cx="3520440" cy="566928"/>
          </a:xfrm>
          <a:prstGeom prst="rect">
            <a:avLst/>
          </a:prstGeom>
          <a:noFill/>
          <a:ln/>
        </p:spPr>
        <p:txBody>
          <a:bodyPr wrap="square" lIns="0" tIns="0" rIns="0" bIns="0" rtlCol="0" anchor="ctr"/>
          <a:lstStyle/>
          <a:p>
            <a:pPr algn="l" indent="0" marL="0">
              <a:buNone/>
            </a:pPr>
            <a:r>
              <a:rPr lang="en-US" sz="1250" dirty="0">
                <a:solidFill>
                  <a:srgbClr val="16202A"/>
                </a:solidFill>
                <a:latin typeface="Calibri" pitchFamily="34" charset="0"/>
                <a:ea typeface="Calibri" pitchFamily="34" charset="-122"/>
                <a:cs typeface="Calibri" pitchFamily="34" charset="-120"/>
              </a:rPr>
              <a:t>→  Capability / Data-flow security</a:t>
            </a:r>
            <a:endParaRPr lang="en-US" sz="1250" dirty="0"/>
          </a:p>
        </p:txBody>
      </p:sp>
      <p:sp>
        <p:nvSpPr>
          <p:cNvPr id="8" name="Shape 6"/>
          <p:cNvSpPr/>
          <p:nvPr/>
        </p:nvSpPr>
        <p:spPr>
          <a:xfrm>
            <a:off x="548640" y="2048256"/>
            <a:ext cx="5349240" cy="566928"/>
          </a:xfrm>
          <a:prstGeom prst="roundRect">
            <a:avLst>
              <a:gd name="adj" fmla="val 8065"/>
            </a:avLst>
          </a:prstGeom>
          <a:solidFill>
            <a:srgbClr val="F3F5F8"/>
          </a:solidFill>
          <a:ln w="9525">
            <a:solidFill>
              <a:srgbClr val="CDD5DF"/>
            </a:solidFill>
            <a:prstDash val="solid"/>
          </a:ln>
        </p:spPr>
      </p:sp>
      <p:sp>
        <p:nvSpPr>
          <p:cNvPr id="9" name="Text 7"/>
          <p:cNvSpPr/>
          <p:nvPr/>
        </p:nvSpPr>
        <p:spPr>
          <a:xfrm>
            <a:off x="713232" y="2048256"/>
            <a:ext cx="1554480" cy="566928"/>
          </a:xfrm>
          <a:prstGeom prst="rect">
            <a:avLst/>
          </a:prstGeom>
          <a:noFill/>
          <a:ln/>
        </p:spPr>
        <p:txBody>
          <a:bodyPr wrap="square" lIns="0" tIns="0" rIns="0" bIns="0" rtlCol="0" anchor="ctr"/>
          <a:lstStyle/>
          <a:p>
            <a:pPr algn="l" indent="0" marL="0">
              <a:buNone/>
            </a:pPr>
            <a:r>
              <a:rPr lang="en-US" sz="1400" b="1" dirty="0">
                <a:solidFill>
                  <a:srgbClr val="8A6D00"/>
                </a:solidFill>
                <a:latin typeface="Calibri" pitchFamily="34" charset="0"/>
                <a:ea typeface="Calibri" pitchFamily="34" charset="-122"/>
                <a:cs typeface="Calibri" pitchFamily="34" charset="-120"/>
              </a:rPr>
              <a:t>Progent</a:t>
            </a:r>
            <a:endParaRPr lang="en-US" sz="1400" dirty="0"/>
          </a:p>
        </p:txBody>
      </p:sp>
      <p:sp>
        <p:nvSpPr>
          <p:cNvPr id="10" name="Text 8"/>
          <p:cNvSpPr/>
          <p:nvPr/>
        </p:nvSpPr>
        <p:spPr>
          <a:xfrm>
            <a:off x="2240280" y="2048256"/>
            <a:ext cx="3520440" cy="566928"/>
          </a:xfrm>
          <a:prstGeom prst="rect">
            <a:avLst/>
          </a:prstGeom>
          <a:noFill/>
          <a:ln/>
        </p:spPr>
        <p:txBody>
          <a:bodyPr wrap="square" lIns="0" tIns="0" rIns="0" bIns="0" rtlCol="0" anchor="ctr"/>
          <a:lstStyle/>
          <a:p>
            <a:pPr algn="l" indent="0" marL="0">
              <a:buNone/>
            </a:pPr>
            <a:r>
              <a:rPr lang="en-US" sz="1250" dirty="0">
                <a:solidFill>
                  <a:srgbClr val="16202A"/>
                </a:solidFill>
                <a:latin typeface="Calibri" pitchFamily="34" charset="0"/>
                <a:ea typeface="Calibri" pitchFamily="34" charset="-122"/>
                <a:cs typeface="Calibri" pitchFamily="34" charset="-120"/>
              </a:rPr>
              <a:t>→  Privilege control</a:t>
            </a:r>
            <a:endParaRPr lang="en-US" sz="1250" dirty="0"/>
          </a:p>
        </p:txBody>
      </p:sp>
      <p:sp>
        <p:nvSpPr>
          <p:cNvPr id="11" name="Shape 9"/>
          <p:cNvSpPr/>
          <p:nvPr/>
        </p:nvSpPr>
        <p:spPr>
          <a:xfrm>
            <a:off x="548640" y="2724912"/>
            <a:ext cx="5349240" cy="566928"/>
          </a:xfrm>
          <a:prstGeom prst="roundRect">
            <a:avLst>
              <a:gd name="adj" fmla="val 8065"/>
            </a:avLst>
          </a:prstGeom>
          <a:solidFill>
            <a:srgbClr val="F3F5F8"/>
          </a:solidFill>
          <a:ln w="9525">
            <a:solidFill>
              <a:srgbClr val="CDD5DF"/>
            </a:solidFill>
            <a:prstDash val="solid"/>
          </a:ln>
        </p:spPr>
      </p:sp>
      <p:sp>
        <p:nvSpPr>
          <p:cNvPr id="12" name="Text 10"/>
          <p:cNvSpPr/>
          <p:nvPr/>
        </p:nvSpPr>
        <p:spPr>
          <a:xfrm>
            <a:off x="713232" y="2724912"/>
            <a:ext cx="1554480" cy="566928"/>
          </a:xfrm>
          <a:prstGeom prst="rect">
            <a:avLst/>
          </a:prstGeom>
          <a:noFill/>
          <a:ln/>
        </p:spPr>
        <p:txBody>
          <a:bodyPr wrap="square" lIns="0" tIns="0" rIns="0" bIns="0" rtlCol="0" anchor="ctr"/>
          <a:lstStyle/>
          <a:p>
            <a:pPr algn="l" indent="0" marL="0">
              <a:buNone/>
            </a:pPr>
            <a:r>
              <a:rPr lang="en-US" sz="1400" b="1" dirty="0">
                <a:solidFill>
                  <a:srgbClr val="8A6D00"/>
                </a:solidFill>
                <a:latin typeface="Calibri" pitchFamily="34" charset="0"/>
                <a:ea typeface="Calibri" pitchFamily="34" charset="-122"/>
                <a:cs typeface="Calibri" pitchFamily="34" charset="-120"/>
              </a:rPr>
              <a:t>IsolateGPT</a:t>
            </a:r>
            <a:endParaRPr lang="en-US" sz="1400" dirty="0"/>
          </a:p>
        </p:txBody>
      </p:sp>
      <p:sp>
        <p:nvSpPr>
          <p:cNvPr id="13" name="Text 11"/>
          <p:cNvSpPr/>
          <p:nvPr/>
        </p:nvSpPr>
        <p:spPr>
          <a:xfrm>
            <a:off x="2240280" y="2724912"/>
            <a:ext cx="3520440" cy="566928"/>
          </a:xfrm>
          <a:prstGeom prst="rect">
            <a:avLst/>
          </a:prstGeom>
          <a:noFill/>
          <a:ln/>
        </p:spPr>
        <p:txBody>
          <a:bodyPr wrap="square" lIns="0" tIns="0" rIns="0" bIns="0" rtlCol="0" anchor="ctr"/>
          <a:lstStyle/>
          <a:p>
            <a:pPr algn="l" indent="0" marL="0">
              <a:buNone/>
            </a:pPr>
            <a:r>
              <a:rPr lang="en-US" sz="1250" dirty="0">
                <a:solidFill>
                  <a:srgbClr val="16202A"/>
                </a:solidFill>
                <a:latin typeface="Calibri" pitchFamily="34" charset="0"/>
                <a:ea typeface="Calibri" pitchFamily="34" charset="-122"/>
                <a:cs typeface="Calibri" pitchFamily="34" charset="-120"/>
              </a:rPr>
              <a:t>→  Execution isolation</a:t>
            </a:r>
            <a:endParaRPr lang="en-US" sz="1250" dirty="0"/>
          </a:p>
        </p:txBody>
      </p:sp>
      <p:sp>
        <p:nvSpPr>
          <p:cNvPr id="14" name="Shape 12"/>
          <p:cNvSpPr/>
          <p:nvPr/>
        </p:nvSpPr>
        <p:spPr>
          <a:xfrm>
            <a:off x="6263640" y="1371600"/>
            <a:ext cx="5349240" cy="566928"/>
          </a:xfrm>
          <a:prstGeom prst="roundRect">
            <a:avLst>
              <a:gd name="adj" fmla="val 8065"/>
            </a:avLst>
          </a:prstGeom>
          <a:solidFill>
            <a:srgbClr val="F3F5F8"/>
          </a:solidFill>
          <a:ln w="9525">
            <a:solidFill>
              <a:srgbClr val="CDD5DF"/>
            </a:solidFill>
            <a:prstDash val="solid"/>
          </a:ln>
        </p:spPr>
      </p:sp>
      <p:sp>
        <p:nvSpPr>
          <p:cNvPr id="15" name="Text 13"/>
          <p:cNvSpPr/>
          <p:nvPr/>
        </p:nvSpPr>
        <p:spPr>
          <a:xfrm>
            <a:off x="6428232" y="1371600"/>
            <a:ext cx="1554480" cy="566928"/>
          </a:xfrm>
          <a:prstGeom prst="rect">
            <a:avLst/>
          </a:prstGeom>
          <a:noFill/>
          <a:ln/>
        </p:spPr>
        <p:txBody>
          <a:bodyPr wrap="square" lIns="0" tIns="0" rIns="0" bIns="0" rtlCol="0" anchor="ctr"/>
          <a:lstStyle/>
          <a:p>
            <a:pPr algn="l" indent="0" marL="0">
              <a:buNone/>
            </a:pPr>
            <a:r>
              <a:rPr lang="en-US" sz="1400" b="1" dirty="0">
                <a:solidFill>
                  <a:srgbClr val="8A6D00"/>
                </a:solidFill>
                <a:latin typeface="Calibri" pitchFamily="34" charset="0"/>
                <a:ea typeface="Calibri" pitchFamily="34" charset="-122"/>
                <a:cs typeface="Calibri" pitchFamily="34" charset="-120"/>
              </a:rPr>
              <a:t>DataSentinel</a:t>
            </a:r>
            <a:endParaRPr lang="en-US" sz="1400" dirty="0"/>
          </a:p>
        </p:txBody>
      </p:sp>
      <p:sp>
        <p:nvSpPr>
          <p:cNvPr id="16" name="Text 14"/>
          <p:cNvSpPr/>
          <p:nvPr/>
        </p:nvSpPr>
        <p:spPr>
          <a:xfrm>
            <a:off x="7955280" y="1371600"/>
            <a:ext cx="3520440" cy="566928"/>
          </a:xfrm>
          <a:prstGeom prst="rect">
            <a:avLst/>
          </a:prstGeom>
          <a:noFill/>
          <a:ln/>
        </p:spPr>
        <p:txBody>
          <a:bodyPr wrap="square" lIns="0" tIns="0" rIns="0" bIns="0" rtlCol="0" anchor="ctr"/>
          <a:lstStyle/>
          <a:p>
            <a:pPr algn="l" indent="0" marL="0">
              <a:buNone/>
            </a:pPr>
            <a:r>
              <a:rPr lang="en-US" sz="1250" dirty="0">
                <a:solidFill>
                  <a:srgbClr val="16202A"/>
                </a:solidFill>
                <a:latin typeface="Calibri" pitchFamily="34" charset="0"/>
                <a:ea typeface="Calibri" pitchFamily="34" charset="-122"/>
                <a:cs typeface="Calibri" pitchFamily="34" charset="-120"/>
              </a:rPr>
              <a:t>→  Prompt injection detection</a:t>
            </a:r>
            <a:endParaRPr lang="en-US" sz="1250" dirty="0"/>
          </a:p>
        </p:txBody>
      </p:sp>
      <p:sp>
        <p:nvSpPr>
          <p:cNvPr id="17" name="Shape 15"/>
          <p:cNvSpPr/>
          <p:nvPr/>
        </p:nvSpPr>
        <p:spPr>
          <a:xfrm>
            <a:off x="6263640" y="2048256"/>
            <a:ext cx="5349240" cy="566928"/>
          </a:xfrm>
          <a:prstGeom prst="roundRect">
            <a:avLst>
              <a:gd name="adj" fmla="val 8065"/>
            </a:avLst>
          </a:prstGeom>
          <a:solidFill>
            <a:srgbClr val="F3F5F8"/>
          </a:solidFill>
          <a:ln w="9525">
            <a:solidFill>
              <a:srgbClr val="CDD5DF"/>
            </a:solidFill>
            <a:prstDash val="solid"/>
          </a:ln>
        </p:spPr>
      </p:sp>
      <p:sp>
        <p:nvSpPr>
          <p:cNvPr id="18" name="Text 16"/>
          <p:cNvSpPr/>
          <p:nvPr/>
        </p:nvSpPr>
        <p:spPr>
          <a:xfrm>
            <a:off x="6428232" y="2048256"/>
            <a:ext cx="1554480" cy="566928"/>
          </a:xfrm>
          <a:prstGeom prst="rect">
            <a:avLst/>
          </a:prstGeom>
          <a:noFill/>
          <a:ln/>
        </p:spPr>
        <p:txBody>
          <a:bodyPr wrap="square" lIns="0" tIns="0" rIns="0" bIns="0" rtlCol="0" anchor="ctr"/>
          <a:lstStyle/>
          <a:p>
            <a:pPr algn="l" indent="0" marL="0">
              <a:buNone/>
            </a:pPr>
            <a:r>
              <a:rPr lang="en-US" sz="1400" b="1" dirty="0">
                <a:solidFill>
                  <a:srgbClr val="8A6D00"/>
                </a:solidFill>
                <a:latin typeface="Calibri" pitchFamily="34" charset="0"/>
                <a:ea typeface="Calibri" pitchFamily="34" charset="-122"/>
                <a:cs typeface="Calibri" pitchFamily="34" charset="-120"/>
              </a:rPr>
              <a:t>AgentDojo</a:t>
            </a:r>
            <a:endParaRPr lang="en-US" sz="1400" dirty="0"/>
          </a:p>
        </p:txBody>
      </p:sp>
      <p:sp>
        <p:nvSpPr>
          <p:cNvPr id="19" name="Text 17"/>
          <p:cNvSpPr/>
          <p:nvPr/>
        </p:nvSpPr>
        <p:spPr>
          <a:xfrm>
            <a:off x="7955280" y="2048256"/>
            <a:ext cx="3520440" cy="566928"/>
          </a:xfrm>
          <a:prstGeom prst="rect">
            <a:avLst/>
          </a:prstGeom>
          <a:noFill/>
          <a:ln/>
        </p:spPr>
        <p:txBody>
          <a:bodyPr wrap="square" lIns="0" tIns="0" rIns="0" bIns="0" rtlCol="0" anchor="ctr"/>
          <a:lstStyle/>
          <a:p>
            <a:pPr algn="l" indent="0" marL="0">
              <a:buNone/>
            </a:pPr>
            <a:r>
              <a:rPr lang="en-US" sz="1250" dirty="0">
                <a:solidFill>
                  <a:srgbClr val="16202A"/>
                </a:solidFill>
                <a:latin typeface="Calibri" pitchFamily="34" charset="0"/>
                <a:ea typeface="Calibri" pitchFamily="34" charset="-122"/>
                <a:cs typeface="Calibri" pitchFamily="34" charset="-120"/>
              </a:rPr>
              <a:t>→  Agent security benchmark</a:t>
            </a:r>
            <a:endParaRPr lang="en-US" sz="1250" dirty="0"/>
          </a:p>
        </p:txBody>
      </p:sp>
      <p:sp>
        <p:nvSpPr>
          <p:cNvPr id="20" name="Shape 18"/>
          <p:cNvSpPr/>
          <p:nvPr/>
        </p:nvSpPr>
        <p:spPr>
          <a:xfrm>
            <a:off x="6263640" y="2724912"/>
            <a:ext cx="5349240" cy="566928"/>
          </a:xfrm>
          <a:prstGeom prst="roundRect">
            <a:avLst>
              <a:gd name="adj" fmla="val 8065"/>
            </a:avLst>
          </a:prstGeom>
          <a:solidFill>
            <a:srgbClr val="F3F5F8"/>
          </a:solidFill>
          <a:ln w="9525">
            <a:solidFill>
              <a:srgbClr val="CDD5DF"/>
            </a:solidFill>
            <a:prstDash val="solid"/>
          </a:ln>
        </p:spPr>
      </p:sp>
      <p:sp>
        <p:nvSpPr>
          <p:cNvPr id="21" name="Text 19"/>
          <p:cNvSpPr/>
          <p:nvPr/>
        </p:nvSpPr>
        <p:spPr>
          <a:xfrm>
            <a:off x="6428232" y="2724912"/>
            <a:ext cx="1554480" cy="566928"/>
          </a:xfrm>
          <a:prstGeom prst="rect">
            <a:avLst/>
          </a:prstGeom>
          <a:noFill/>
          <a:ln/>
        </p:spPr>
        <p:txBody>
          <a:bodyPr wrap="square" lIns="0" tIns="0" rIns="0" bIns="0" rtlCol="0" anchor="ctr"/>
          <a:lstStyle/>
          <a:p>
            <a:pPr algn="l" indent="0" marL="0">
              <a:buNone/>
            </a:pPr>
            <a:r>
              <a:rPr lang="en-US" sz="1400" b="1" dirty="0">
                <a:solidFill>
                  <a:srgbClr val="8A6D00"/>
                </a:solidFill>
                <a:latin typeface="Calibri" pitchFamily="34" charset="0"/>
                <a:ea typeface="Calibri" pitchFamily="34" charset="-122"/>
                <a:cs typeface="Calibri" pitchFamily="34" charset="-120"/>
              </a:rPr>
              <a:t>MCPTox</a:t>
            </a:r>
            <a:endParaRPr lang="en-US" sz="1400" dirty="0"/>
          </a:p>
        </p:txBody>
      </p:sp>
      <p:sp>
        <p:nvSpPr>
          <p:cNvPr id="22" name="Text 20"/>
          <p:cNvSpPr/>
          <p:nvPr/>
        </p:nvSpPr>
        <p:spPr>
          <a:xfrm>
            <a:off x="7955280" y="2724912"/>
            <a:ext cx="3520440" cy="566928"/>
          </a:xfrm>
          <a:prstGeom prst="rect">
            <a:avLst/>
          </a:prstGeom>
          <a:noFill/>
          <a:ln/>
        </p:spPr>
        <p:txBody>
          <a:bodyPr wrap="square" lIns="0" tIns="0" rIns="0" bIns="0" rtlCol="0" anchor="ctr"/>
          <a:lstStyle/>
          <a:p>
            <a:pPr algn="l" indent="0" marL="0">
              <a:buNone/>
            </a:pPr>
            <a:r>
              <a:rPr lang="en-US" sz="1250" dirty="0">
                <a:solidFill>
                  <a:srgbClr val="16202A"/>
                </a:solidFill>
                <a:latin typeface="Calibri" pitchFamily="34" charset="0"/>
                <a:ea typeface="Calibri" pitchFamily="34" charset="-122"/>
                <a:cs typeface="Calibri" pitchFamily="34" charset="-120"/>
              </a:rPr>
              <a:t>→  Tool-poisoning benchmark</a:t>
            </a:r>
            <a:endParaRPr lang="en-US" sz="1250" dirty="0"/>
          </a:p>
        </p:txBody>
      </p:sp>
      <p:sp>
        <p:nvSpPr>
          <p:cNvPr id="23" name="Shape 21"/>
          <p:cNvSpPr/>
          <p:nvPr/>
        </p:nvSpPr>
        <p:spPr>
          <a:xfrm>
            <a:off x="2436876" y="3456432"/>
            <a:ext cx="7315200" cy="457200"/>
          </a:xfrm>
          <a:prstGeom prst="roundRect">
            <a:avLst>
              <a:gd name="adj" fmla="val 10000"/>
            </a:avLst>
          </a:prstGeom>
          <a:solidFill>
            <a:srgbClr val="EAEDF2"/>
          </a:solidFill>
          <a:ln w="12700">
            <a:solidFill>
              <a:srgbClr val="55606C"/>
            </a:solidFill>
            <a:prstDash val="solid"/>
          </a:ln>
        </p:spPr>
      </p:sp>
      <p:sp>
        <p:nvSpPr>
          <p:cNvPr id="24" name="Text 22"/>
          <p:cNvSpPr/>
          <p:nvPr/>
        </p:nvSpPr>
        <p:spPr>
          <a:xfrm>
            <a:off x="2436876" y="3456432"/>
            <a:ext cx="7315200" cy="457200"/>
          </a:xfrm>
          <a:prstGeom prst="rect">
            <a:avLst/>
          </a:prstGeom>
          <a:noFill/>
          <a:ln/>
        </p:spPr>
        <p:txBody>
          <a:bodyPr wrap="square" lIns="0" tIns="0" rIns="0" bIns="0" rtlCol="0" anchor="ctr"/>
          <a:lstStyle/>
          <a:p>
            <a:pPr algn="ctr" indent="0" marL="0">
              <a:buNone/>
            </a:pPr>
            <a:r>
              <a:rPr lang="en-US" sz="1300" b="1" dirty="0">
                <a:solidFill>
                  <a:srgbClr val="55606C"/>
                </a:solidFill>
                <a:latin typeface="Calibri" pitchFamily="34" charset="0"/>
                <a:ea typeface="Calibri" pitchFamily="34" charset="-122"/>
                <a:cs typeface="Calibri" pitchFamily="34" charset="-120"/>
              </a:rPr>
              <a:t>CURRENT STATE  </a:t>
            </a:r>
            <a:pPr algn="ctr" indent="0" marL="0">
              <a:buNone/>
            </a:pPr>
            <a:r>
              <a:rPr lang="en-US" sz="1300" dirty="0">
                <a:solidFill>
                  <a:srgbClr val="55606C"/>
                </a:solidFill>
                <a:latin typeface="Calibri" pitchFamily="34" charset="0"/>
                <a:ea typeface="Calibri" pitchFamily="34" charset="-122"/>
                <a:cs typeface="Calibri" pitchFamily="34" charset="-120"/>
              </a:rPr>
              <a:t> —  Multiple specialized defenses</a:t>
            </a:r>
            <a:endParaRPr lang="en-US" sz="1300" dirty="0"/>
          </a:p>
        </p:txBody>
      </p:sp>
      <p:sp>
        <p:nvSpPr>
          <p:cNvPr id="25" name="Shape 23"/>
          <p:cNvSpPr/>
          <p:nvPr/>
        </p:nvSpPr>
        <p:spPr>
          <a:xfrm>
            <a:off x="6094476" y="3941064"/>
            <a:ext cx="914" cy="201168"/>
          </a:xfrm>
          <a:prstGeom prst="line">
            <a:avLst/>
          </a:prstGeom>
          <a:noFill/>
          <a:ln w="19050">
            <a:solidFill>
              <a:srgbClr val="707B8A"/>
            </a:solidFill>
            <a:prstDash val="solid"/>
            <a:tailEnd type="triangle"/>
          </a:ln>
        </p:spPr>
      </p:sp>
      <p:sp>
        <p:nvSpPr>
          <p:cNvPr id="26" name="Shape 24"/>
          <p:cNvSpPr/>
          <p:nvPr/>
        </p:nvSpPr>
        <p:spPr>
          <a:xfrm>
            <a:off x="2436876" y="4169664"/>
            <a:ext cx="7315200" cy="457200"/>
          </a:xfrm>
          <a:prstGeom prst="roundRect">
            <a:avLst>
              <a:gd name="adj" fmla="val 10000"/>
            </a:avLst>
          </a:prstGeom>
          <a:solidFill>
            <a:srgbClr val="EAEDF2"/>
          </a:solidFill>
          <a:ln w="12700">
            <a:solidFill>
              <a:srgbClr val="C0392B"/>
            </a:solidFill>
            <a:prstDash val="solid"/>
          </a:ln>
        </p:spPr>
      </p:sp>
      <p:sp>
        <p:nvSpPr>
          <p:cNvPr id="27" name="Text 25"/>
          <p:cNvSpPr/>
          <p:nvPr/>
        </p:nvSpPr>
        <p:spPr>
          <a:xfrm>
            <a:off x="2436876" y="4169664"/>
            <a:ext cx="7315200" cy="457200"/>
          </a:xfrm>
          <a:prstGeom prst="rect">
            <a:avLst/>
          </a:prstGeom>
          <a:noFill/>
          <a:ln/>
        </p:spPr>
        <p:txBody>
          <a:bodyPr wrap="square" lIns="0" tIns="0" rIns="0" bIns="0"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RESEARCH GAP  </a:t>
            </a:r>
            <a:pPr algn="ctr" indent="0" marL="0">
              <a:buNone/>
            </a:pPr>
            <a:r>
              <a:rPr lang="en-US" sz="1300" dirty="0">
                <a:solidFill>
                  <a:srgbClr val="55606C"/>
                </a:solidFill>
                <a:latin typeface="Calibri" pitchFamily="34" charset="0"/>
                <a:ea typeface="Calibri" pitchFamily="34" charset="-122"/>
                <a:cs typeface="Calibri" pitchFamily="34" charset="-120"/>
              </a:rPr>
              <a:t> —  No unified runtime security layer</a:t>
            </a:r>
            <a:endParaRPr lang="en-US" sz="1300" dirty="0"/>
          </a:p>
        </p:txBody>
      </p:sp>
      <p:sp>
        <p:nvSpPr>
          <p:cNvPr id="28" name="Shape 26"/>
          <p:cNvSpPr/>
          <p:nvPr/>
        </p:nvSpPr>
        <p:spPr>
          <a:xfrm>
            <a:off x="6094476" y="4654296"/>
            <a:ext cx="914" cy="201168"/>
          </a:xfrm>
          <a:prstGeom prst="line">
            <a:avLst/>
          </a:prstGeom>
          <a:noFill/>
          <a:ln w="19050">
            <a:solidFill>
              <a:srgbClr val="707B8A"/>
            </a:solidFill>
            <a:prstDash val="solid"/>
            <a:tailEnd type="triangle"/>
          </a:ln>
        </p:spPr>
      </p:sp>
      <p:sp>
        <p:nvSpPr>
          <p:cNvPr id="29" name="Shape 27"/>
          <p:cNvSpPr/>
          <p:nvPr/>
        </p:nvSpPr>
        <p:spPr>
          <a:xfrm>
            <a:off x="2436876" y="4882896"/>
            <a:ext cx="7315200" cy="457200"/>
          </a:xfrm>
          <a:prstGeom prst="roundRect">
            <a:avLst>
              <a:gd name="adj" fmla="val 10000"/>
            </a:avLst>
          </a:prstGeom>
          <a:solidFill>
            <a:srgbClr val="EAEDF2"/>
          </a:solidFill>
          <a:ln w="12700">
            <a:solidFill>
              <a:srgbClr val="55606C"/>
            </a:solidFill>
            <a:prstDash val="solid"/>
          </a:ln>
        </p:spPr>
      </p:sp>
      <p:sp>
        <p:nvSpPr>
          <p:cNvPr id="30" name="Text 28"/>
          <p:cNvSpPr/>
          <p:nvPr/>
        </p:nvSpPr>
        <p:spPr>
          <a:xfrm>
            <a:off x="2436876" y="4882896"/>
            <a:ext cx="7315200" cy="457200"/>
          </a:xfrm>
          <a:prstGeom prst="rect">
            <a:avLst/>
          </a:prstGeom>
          <a:noFill/>
          <a:ln/>
        </p:spPr>
        <p:txBody>
          <a:bodyPr wrap="square" lIns="0" tIns="0" rIns="0" bIns="0" rtlCol="0" anchor="ctr"/>
          <a:lstStyle/>
          <a:p>
            <a:pPr algn="ctr" indent="0" marL="0">
              <a:buNone/>
            </a:pPr>
            <a:r>
              <a:rPr lang="en-US" sz="1300" b="1" dirty="0">
                <a:solidFill>
                  <a:srgbClr val="55606C"/>
                </a:solidFill>
                <a:latin typeface="Calibri" pitchFamily="34" charset="0"/>
                <a:ea typeface="Calibri" pitchFamily="34" charset="-122"/>
                <a:cs typeface="Calibri" pitchFamily="34" charset="-120"/>
              </a:rPr>
              <a:t>PROPOSED DIRECTION  </a:t>
            </a:r>
            <a:pPr algn="ctr" indent="0" marL="0">
              <a:buNone/>
            </a:pPr>
            <a:r>
              <a:rPr lang="en-US" sz="1300" dirty="0">
                <a:solidFill>
                  <a:srgbClr val="55606C"/>
                </a:solidFill>
                <a:latin typeface="Calibri" pitchFamily="34" charset="0"/>
                <a:ea typeface="Calibri" pitchFamily="34" charset="-122"/>
                <a:cs typeface="Calibri" pitchFamily="34" charset="-120"/>
              </a:rPr>
              <a:t> —  Detection + Privilege + Isolation + Tool Validation</a:t>
            </a:r>
            <a:endParaRPr lang="en-US" sz="1300" dirty="0"/>
          </a:p>
        </p:txBody>
      </p:sp>
      <p:sp>
        <p:nvSpPr>
          <p:cNvPr id="31" name="Shape 29"/>
          <p:cNvSpPr/>
          <p:nvPr/>
        </p:nvSpPr>
        <p:spPr>
          <a:xfrm>
            <a:off x="6094476" y="5367528"/>
            <a:ext cx="914" cy="201168"/>
          </a:xfrm>
          <a:prstGeom prst="line">
            <a:avLst/>
          </a:prstGeom>
          <a:noFill/>
          <a:ln w="19050">
            <a:solidFill>
              <a:srgbClr val="707B8A"/>
            </a:solidFill>
            <a:prstDash val="solid"/>
            <a:tailEnd type="triangle"/>
          </a:ln>
        </p:spPr>
      </p:sp>
      <p:sp>
        <p:nvSpPr>
          <p:cNvPr id="32" name="Shape 30"/>
          <p:cNvSpPr/>
          <p:nvPr/>
        </p:nvSpPr>
        <p:spPr>
          <a:xfrm>
            <a:off x="1979676" y="5596128"/>
            <a:ext cx="8229600" cy="566928"/>
          </a:xfrm>
          <a:prstGeom prst="roundRect">
            <a:avLst>
              <a:gd name="adj" fmla="val 9677"/>
            </a:avLst>
          </a:prstGeom>
          <a:solidFill>
            <a:srgbClr val="FFF6D9"/>
          </a:solidFill>
          <a:ln w="22225">
            <a:solidFill>
              <a:srgbClr val="F2B705"/>
            </a:solidFill>
            <a:prstDash val="solid"/>
          </a:ln>
        </p:spPr>
      </p:sp>
      <p:sp>
        <p:nvSpPr>
          <p:cNvPr id="33" name="Text 31"/>
          <p:cNvSpPr/>
          <p:nvPr/>
        </p:nvSpPr>
        <p:spPr>
          <a:xfrm>
            <a:off x="1979676" y="5596128"/>
            <a:ext cx="8229600" cy="566928"/>
          </a:xfrm>
          <a:prstGeom prst="rect">
            <a:avLst/>
          </a:prstGeom>
          <a:noFill/>
          <a:ln/>
        </p:spPr>
        <p:txBody>
          <a:bodyPr wrap="square" lIns="0" tIns="0" rIns="0" bIns="0" rtlCol="0" anchor="ctr"/>
          <a:lstStyle/>
          <a:p>
            <a:pPr algn="ctr" indent="0" marL="0">
              <a:buNone/>
            </a:pPr>
            <a:r>
              <a:rPr lang="en-US" sz="1600" b="1" spc="50" kern="0" dirty="0">
                <a:solidFill>
                  <a:srgbClr val="8A6D00"/>
                </a:solidFill>
                <a:latin typeface="Calibri" pitchFamily="34" charset="0"/>
                <a:ea typeface="Calibri" pitchFamily="34" charset="-122"/>
                <a:cs typeface="Calibri" pitchFamily="34" charset="-120"/>
              </a:rPr>
              <a:t>UNIFIED RUNTIME SECURITY GATEWAY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6202A"/>
                </a:solidFill>
                <a:latin typeface="Cambria" pitchFamily="34" charset="0"/>
                <a:ea typeface="Cambria" pitchFamily="34" charset="-122"/>
                <a:cs typeface="Cambria" pitchFamily="34" charset="-120"/>
              </a:rPr>
              <a:t>Literature Review</a:t>
            </a:r>
            <a:endParaRPr lang="en-US" sz="3000" dirty="0"/>
          </a:p>
        </p:txBody>
      </p:sp>
      <p:sp>
        <p:nvSpPr>
          <p:cNvPr id="3" name="Text 1"/>
          <p:cNvSpPr/>
          <p:nvPr/>
        </p:nvSpPr>
        <p:spPr>
          <a:xfrm>
            <a:off x="10881360" y="6510528"/>
            <a:ext cx="914400" cy="274320"/>
          </a:xfrm>
          <a:prstGeom prst="rect">
            <a:avLst/>
          </a:prstGeom>
          <a:noFill/>
          <a:ln/>
        </p:spPr>
        <p:txBody>
          <a:bodyPr wrap="square" lIns="0" tIns="0" rIns="0" bIns="0" rtlCol="0" anchor="ctr"/>
          <a:lstStyle/>
          <a:p>
            <a:pPr algn="r" indent="0" marL="0">
              <a:buNone/>
            </a:pPr>
            <a:r>
              <a:rPr lang="en-US" sz="900" dirty="0">
                <a:solidFill>
                  <a:srgbClr val="707B8A"/>
                </a:solidFill>
                <a:latin typeface="Calibri" pitchFamily="34" charset="0"/>
                <a:ea typeface="Calibri" pitchFamily="34" charset="-122"/>
                <a:cs typeface="Calibri" pitchFamily="34" charset="-120"/>
              </a:rPr>
              <a:t>04 / 06</a:t>
            </a:r>
            <a:endParaRPr lang="en-US" sz="900" dirty="0"/>
          </a:p>
        </p:txBody>
      </p:sp>
      <p:sp>
        <p:nvSpPr>
          <p:cNvPr id="4" name="Shape 2"/>
          <p:cNvSpPr/>
          <p:nvPr/>
        </p:nvSpPr>
        <p:spPr>
          <a:xfrm>
            <a:off x="548640" y="1097280"/>
            <a:ext cx="2606040" cy="4434840"/>
          </a:xfrm>
          <a:prstGeom prst="roundRect">
            <a:avLst>
              <a:gd name="adj" fmla="val 2105"/>
            </a:avLst>
          </a:prstGeom>
          <a:solidFill>
            <a:srgbClr val="F3F5F8"/>
          </a:solidFill>
          <a:ln w="12700">
            <a:solidFill>
              <a:srgbClr val="CDD5DF"/>
            </a:solidFill>
            <a:prstDash val="solid"/>
          </a:ln>
        </p:spPr>
      </p:sp>
      <p:sp>
        <p:nvSpPr>
          <p:cNvPr id="5" name="Text 3"/>
          <p:cNvSpPr/>
          <p:nvPr/>
        </p:nvSpPr>
        <p:spPr>
          <a:xfrm>
            <a:off x="685800" y="1261872"/>
            <a:ext cx="2331720" cy="384048"/>
          </a:xfrm>
          <a:prstGeom prst="rect">
            <a:avLst/>
          </a:prstGeom>
          <a:noFill/>
          <a:ln/>
        </p:spPr>
        <p:txBody>
          <a:bodyPr wrap="square" lIns="0" tIns="0" rIns="0" bIns="0" rtlCol="0" anchor="ctr"/>
          <a:lstStyle/>
          <a:p>
            <a:pPr algn="l" indent="0" marL="0">
              <a:buNone/>
            </a:pPr>
            <a:r>
              <a:rPr lang="en-US" sz="2200" b="1" dirty="0">
                <a:solidFill>
                  <a:srgbClr val="8A6D00"/>
                </a:solidFill>
                <a:latin typeface="Cambria" pitchFamily="34" charset="0"/>
                <a:ea typeface="Cambria" pitchFamily="34" charset="-122"/>
                <a:cs typeface="Cambria" pitchFamily="34" charset="-120"/>
              </a:rPr>
              <a:t>2023</a:t>
            </a:r>
            <a:endParaRPr lang="en-US" sz="2200" dirty="0"/>
          </a:p>
        </p:txBody>
      </p:sp>
      <p:sp>
        <p:nvSpPr>
          <p:cNvPr id="6" name="Text 4"/>
          <p:cNvSpPr/>
          <p:nvPr/>
        </p:nvSpPr>
        <p:spPr>
          <a:xfrm>
            <a:off x="685800" y="1664208"/>
            <a:ext cx="2331720" cy="502920"/>
          </a:xfrm>
          <a:prstGeom prst="rect">
            <a:avLst/>
          </a:prstGeom>
          <a:noFill/>
          <a:ln/>
        </p:spPr>
        <p:txBody>
          <a:bodyPr wrap="square" lIns="0" tIns="0" rIns="0" bIns="0" rtlCol="0" anchor="ctr"/>
          <a:lstStyle/>
          <a:p>
            <a:pPr algn="l" indent="0" marL="0">
              <a:buNone/>
            </a:pPr>
            <a:r>
              <a:rPr lang="en-US" sz="1300" b="1" dirty="0">
                <a:solidFill>
                  <a:srgbClr val="16202A"/>
                </a:solidFill>
                <a:latin typeface="Calibri" pitchFamily="34" charset="0"/>
                <a:ea typeface="Calibri" pitchFamily="34" charset="-122"/>
                <a:cs typeface="Calibri" pitchFamily="34" charset="-120"/>
              </a:rPr>
              <a:t>THREAT FOUNDATIONS</a:t>
            </a:r>
            <a:endParaRPr lang="en-US" sz="1300" dirty="0"/>
          </a:p>
        </p:txBody>
      </p:sp>
      <p:sp>
        <p:nvSpPr>
          <p:cNvPr id="7" name="Shape 5"/>
          <p:cNvSpPr/>
          <p:nvPr/>
        </p:nvSpPr>
        <p:spPr>
          <a:xfrm>
            <a:off x="685800" y="2267712"/>
            <a:ext cx="2331720" cy="914"/>
          </a:xfrm>
          <a:prstGeom prst="line">
            <a:avLst/>
          </a:prstGeom>
          <a:noFill/>
          <a:ln w="9525">
            <a:solidFill>
              <a:srgbClr val="CDD5DF"/>
            </a:solidFill>
            <a:prstDash val="solid"/>
          </a:ln>
        </p:spPr>
      </p:sp>
      <p:sp>
        <p:nvSpPr>
          <p:cNvPr id="8" name="Text 6"/>
          <p:cNvSpPr/>
          <p:nvPr/>
        </p:nvSpPr>
        <p:spPr>
          <a:xfrm>
            <a:off x="685800" y="2423160"/>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Greshake et al.</a:t>
            </a:r>
            <a:endParaRPr lang="en-US" sz="1250" dirty="0"/>
          </a:p>
        </p:txBody>
      </p:sp>
      <p:sp>
        <p:nvSpPr>
          <p:cNvPr id="9" name="Text 7"/>
          <p:cNvSpPr/>
          <p:nvPr/>
        </p:nvSpPr>
        <p:spPr>
          <a:xfrm>
            <a:off x="685800" y="2843784"/>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Indirect Prompt Injection</a:t>
            </a:r>
            <a:endParaRPr lang="en-US" sz="1250" dirty="0"/>
          </a:p>
        </p:txBody>
      </p:sp>
      <p:sp>
        <p:nvSpPr>
          <p:cNvPr id="10" name="Shape 8"/>
          <p:cNvSpPr/>
          <p:nvPr/>
        </p:nvSpPr>
        <p:spPr>
          <a:xfrm>
            <a:off x="3172968" y="3314700"/>
            <a:ext cx="192024" cy="914"/>
          </a:xfrm>
          <a:prstGeom prst="line">
            <a:avLst/>
          </a:prstGeom>
          <a:noFill/>
          <a:ln w="19050">
            <a:solidFill>
              <a:srgbClr val="707B8A"/>
            </a:solidFill>
            <a:prstDash val="solid"/>
            <a:tailEnd type="triangle"/>
          </a:ln>
        </p:spPr>
      </p:sp>
      <p:sp>
        <p:nvSpPr>
          <p:cNvPr id="11" name="Shape 9"/>
          <p:cNvSpPr/>
          <p:nvPr/>
        </p:nvSpPr>
        <p:spPr>
          <a:xfrm>
            <a:off x="3383280" y="1097280"/>
            <a:ext cx="2606040" cy="4434840"/>
          </a:xfrm>
          <a:prstGeom prst="roundRect">
            <a:avLst>
              <a:gd name="adj" fmla="val 2105"/>
            </a:avLst>
          </a:prstGeom>
          <a:solidFill>
            <a:srgbClr val="F3F5F8"/>
          </a:solidFill>
          <a:ln w="12700">
            <a:solidFill>
              <a:srgbClr val="CDD5DF"/>
            </a:solidFill>
            <a:prstDash val="solid"/>
          </a:ln>
        </p:spPr>
      </p:sp>
      <p:sp>
        <p:nvSpPr>
          <p:cNvPr id="12" name="Text 10"/>
          <p:cNvSpPr/>
          <p:nvPr/>
        </p:nvSpPr>
        <p:spPr>
          <a:xfrm>
            <a:off x="3520440" y="1261872"/>
            <a:ext cx="2331720" cy="384048"/>
          </a:xfrm>
          <a:prstGeom prst="rect">
            <a:avLst/>
          </a:prstGeom>
          <a:noFill/>
          <a:ln/>
        </p:spPr>
        <p:txBody>
          <a:bodyPr wrap="square" lIns="0" tIns="0" rIns="0" bIns="0" rtlCol="0" anchor="ctr"/>
          <a:lstStyle/>
          <a:p>
            <a:pPr algn="l" indent="0" marL="0">
              <a:buNone/>
            </a:pPr>
            <a:r>
              <a:rPr lang="en-US" sz="2200" b="1" dirty="0">
                <a:solidFill>
                  <a:srgbClr val="8A6D00"/>
                </a:solidFill>
                <a:latin typeface="Cambria" pitchFamily="34" charset="0"/>
                <a:ea typeface="Cambria" pitchFamily="34" charset="-122"/>
                <a:cs typeface="Cambria" pitchFamily="34" charset="-120"/>
              </a:rPr>
              <a:t>2024</a:t>
            </a:r>
            <a:endParaRPr lang="en-US" sz="2200" dirty="0"/>
          </a:p>
        </p:txBody>
      </p:sp>
      <p:sp>
        <p:nvSpPr>
          <p:cNvPr id="13" name="Text 11"/>
          <p:cNvSpPr/>
          <p:nvPr/>
        </p:nvSpPr>
        <p:spPr>
          <a:xfrm>
            <a:off x="3520440" y="1664208"/>
            <a:ext cx="2331720" cy="502920"/>
          </a:xfrm>
          <a:prstGeom prst="rect">
            <a:avLst/>
          </a:prstGeom>
          <a:noFill/>
          <a:ln/>
        </p:spPr>
        <p:txBody>
          <a:bodyPr wrap="square" lIns="0" tIns="0" rIns="0" bIns="0" rtlCol="0" anchor="ctr"/>
          <a:lstStyle/>
          <a:p>
            <a:pPr algn="l" indent="0" marL="0">
              <a:buNone/>
            </a:pPr>
            <a:r>
              <a:rPr lang="en-US" sz="1300" b="1" dirty="0">
                <a:solidFill>
                  <a:srgbClr val="16202A"/>
                </a:solidFill>
                <a:latin typeface="Calibri" pitchFamily="34" charset="0"/>
                <a:ea typeface="Calibri" pitchFamily="34" charset="-122"/>
                <a:cs typeface="Calibri" pitchFamily="34" charset="-120"/>
              </a:rPr>
              <a:t>BENCHMARKING</a:t>
            </a:r>
            <a:endParaRPr lang="en-US" sz="1300" dirty="0"/>
          </a:p>
        </p:txBody>
      </p:sp>
      <p:sp>
        <p:nvSpPr>
          <p:cNvPr id="14" name="Shape 12"/>
          <p:cNvSpPr/>
          <p:nvPr/>
        </p:nvSpPr>
        <p:spPr>
          <a:xfrm>
            <a:off x="3520440" y="2267712"/>
            <a:ext cx="2331720" cy="914"/>
          </a:xfrm>
          <a:prstGeom prst="line">
            <a:avLst/>
          </a:prstGeom>
          <a:noFill/>
          <a:ln w="9525">
            <a:solidFill>
              <a:srgbClr val="CDD5DF"/>
            </a:solidFill>
            <a:prstDash val="solid"/>
          </a:ln>
        </p:spPr>
      </p:sp>
      <p:sp>
        <p:nvSpPr>
          <p:cNvPr id="15" name="Text 13"/>
          <p:cNvSpPr/>
          <p:nvPr/>
        </p:nvSpPr>
        <p:spPr>
          <a:xfrm>
            <a:off x="3520440" y="2423160"/>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AgentDojo</a:t>
            </a:r>
            <a:endParaRPr lang="en-US" sz="1250" dirty="0"/>
          </a:p>
        </p:txBody>
      </p:sp>
      <p:sp>
        <p:nvSpPr>
          <p:cNvPr id="16" name="Text 14"/>
          <p:cNvSpPr/>
          <p:nvPr/>
        </p:nvSpPr>
        <p:spPr>
          <a:xfrm>
            <a:off x="3520440" y="2843784"/>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InjecAgent</a:t>
            </a:r>
            <a:endParaRPr lang="en-US" sz="1250" dirty="0"/>
          </a:p>
        </p:txBody>
      </p:sp>
      <p:sp>
        <p:nvSpPr>
          <p:cNvPr id="17" name="Text 15"/>
          <p:cNvSpPr/>
          <p:nvPr/>
        </p:nvSpPr>
        <p:spPr>
          <a:xfrm>
            <a:off x="3520440" y="3264408"/>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Instruction Hierarchy</a:t>
            </a:r>
            <a:endParaRPr lang="en-US" sz="1250" dirty="0"/>
          </a:p>
        </p:txBody>
      </p:sp>
      <p:sp>
        <p:nvSpPr>
          <p:cNvPr id="18" name="Text 16"/>
          <p:cNvSpPr/>
          <p:nvPr/>
        </p:nvSpPr>
        <p:spPr>
          <a:xfrm>
            <a:off x="3520440" y="3685032"/>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ToolEmu</a:t>
            </a:r>
            <a:endParaRPr lang="en-US" sz="1250" dirty="0"/>
          </a:p>
        </p:txBody>
      </p:sp>
      <p:sp>
        <p:nvSpPr>
          <p:cNvPr id="19" name="Shape 17"/>
          <p:cNvSpPr/>
          <p:nvPr/>
        </p:nvSpPr>
        <p:spPr>
          <a:xfrm>
            <a:off x="6007608" y="3314700"/>
            <a:ext cx="192024" cy="914"/>
          </a:xfrm>
          <a:prstGeom prst="line">
            <a:avLst/>
          </a:prstGeom>
          <a:noFill/>
          <a:ln w="19050">
            <a:solidFill>
              <a:srgbClr val="707B8A"/>
            </a:solidFill>
            <a:prstDash val="solid"/>
            <a:tailEnd type="triangle"/>
          </a:ln>
        </p:spPr>
      </p:sp>
      <p:sp>
        <p:nvSpPr>
          <p:cNvPr id="20" name="Shape 18"/>
          <p:cNvSpPr/>
          <p:nvPr/>
        </p:nvSpPr>
        <p:spPr>
          <a:xfrm>
            <a:off x="6217920" y="1097280"/>
            <a:ext cx="2606040" cy="4434840"/>
          </a:xfrm>
          <a:prstGeom prst="roundRect">
            <a:avLst>
              <a:gd name="adj" fmla="val 2105"/>
            </a:avLst>
          </a:prstGeom>
          <a:solidFill>
            <a:srgbClr val="F3F5F8"/>
          </a:solidFill>
          <a:ln w="12700">
            <a:solidFill>
              <a:srgbClr val="CDD5DF"/>
            </a:solidFill>
            <a:prstDash val="solid"/>
          </a:ln>
        </p:spPr>
      </p:sp>
      <p:sp>
        <p:nvSpPr>
          <p:cNvPr id="21" name="Text 19"/>
          <p:cNvSpPr/>
          <p:nvPr/>
        </p:nvSpPr>
        <p:spPr>
          <a:xfrm>
            <a:off x="6355080" y="1261872"/>
            <a:ext cx="2331720" cy="384048"/>
          </a:xfrm>
          <a:prstGeom prst="rect">
            <a:avLst/>
          </a:prstGeom>
          <a:noFill/>
          <a:ln/>
        </p:spPr>
        <p:txBody>
          <a:bodyPr wrap="square" lIns="0" tIns="0" rIns="0" bIns="0" rtlCol="0" anchor="ctr"/>
          <a:lstStyle/>
          <a:p>
            <a:pPr algn="l" indent="0" marL="0">
              <a:buNone/>
            </a:pPr>
            <a:r>
              <a:rPr lang="en-US" sz="2200" b="1" dirty="0">
                <a:solidFill>
                  <a:srgbClr val="8A6D00"/>
                </a:solidFill>
                <a:latin typeface="Cambria" pitchFamily="34" charset="0"/>
                <a:ea typeface="Cambria" pitchFamily="34" charset="-122"/>
                <a:cs typeface="Cambria" pitchFamily="34" charset="-120"/>
              </a:rPr>
              <a:t>2025</a:t>
            </a:r>
            <a:endParaRPr lang="en-US" sz="2200" dirty="0"/>
          </a:p>
        </p:txBody>
      </p:sp>
      <p:sp>
        <p:nvSpPr>
          <p:cNvPr id="22" name="Text 20"/>
          <p:cNvSpPr/>
          <p:nvPr/>
        </p:nvSpPr>
        <p:spPr>
          <a:xfrm>
            <a:off x="6355080" y="1664208"/>
            <a:ext cx="2331720" cy="502920"/>
          </a:xfrm>
          <a:prstGeom prst="rect">
            <a:avLst/>
          </a:prstGeom>
          <a:noFill/>
          <a:ln/>
        </p:spPr>
        <p:txBody>
          <a:bodyPr wrap="square" lIns="0" tIns="0" rIns="0" bIns="0" rtlCol="0" anchor="ctr"/>
          <a:lstStyle/>
          <a:p>
            <a:pPr algn="l" indent="0" marL="0">
              <a:buNone/>
            </a:pPr>
            <a:r>
              <a:rPr lang="en-US" sz="1300" b="1" dirty="0">
                <a:solidFill>
                  <a:srgbClr val="16202A"/>
                </a:solidFill>
                <a:latin typeface="Calibri" pitchFamily="34" charset="0"/>
                <a:ea typeface="Calibri" pitchFamily="34" charset="-122"/>
                <a:cs typeface="Calibri" pitchFamily="34" charset="-120"/>
              </a:rPr>
              <a:t>DEFENSE ARCHITECTURES</a:t>
            </a:r>
            <a:endParaRPr lang="en-US" sz="1300" dirty="0"/>
          </a:p>
        </p:txBody>
      </p:sp>
      <p:sp>
        <p:nvSpPr>
          <p:cNvPr id="23" name="Shape 21"/>
          <p:cNvSpPr/>
          <p:nvPr/>
        </p:nvSpPr>
        <p:spPr>
          <a:xfrm>
            <a:off x="6355080" y="2267712"/>
            <a:ext cx="2331720" cy="914"/>
          </a:xfrm>
          <a:prstGeom prst="line">
            <a:avLst/>
          </a:prstGeom>
          <a:noFill/>
          <a:ln w="9525">
            <a:solidFill>
              <a:srgbClr val="CDD5DF"/>
            </a:solidFill>
            <a:prstDash val="solid"/>
          </a:ln>
        </p:spPr>
      </p:sp>
      <p:sp>
        <p:nvSpPr>
          <p:cNvPr id="24" name="Text 22"/>
          <p:cNvSpPr/>
          <p:nvPr/>
        </p:nvSpPr>
        <p:spPr>
          <a:xfrm>
            <a:off x="6355080" y="2423160"/>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CaMeL</a:t>
            </a:r>
            <a:endParaRPr lang="en-US" sz="1250" dirty="0"/>
          </a:p>
        </p:txBody>
      </p:sp>
      <p:sp>
        <p:nvSpPr>
          <p:cNvPr id="25" name="Text 23"/>
          <p:cNvSpPr/>
          <p:nvPr/>
        </p:nvSpPr>
        <p:spPr>
          <a:xfrm>
            <a:off x="6355080" y="2843784"/>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Progent</a:t>
            </a:r>
            <a:endParaRPr lang="en-US" sz="1250" dirty="0"/>
          </a:p>
        </p:txBody>
      </p:sp>
      <p:sp>
        <p:nvSpPr>
          <p:cNvPr id="26" name="Text 24"/>
          <p:cNvSpPr/>
          <p:nvPr/>
        </p:nvSpPr>
        <p:spPr>
          <a:xfrm>
            <a:off x="6355080" y="3264408"/>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IsolateGPT</a:t>
            </a:r>
            <a:endParaRPr lang="en-US" sz="1250" dirty="0"/>
          </a:p>
        </p:txBody>
      </p:sp>
      <p:sp>
        <p:nvSpPr>
          <p:cNvPr id="27" name="Text 25"/>
          <p:cNvSpPr/>
          <p:nvPr/>
        </p:nvSpPr>
        <p:spPr>
          <a:xfrm>
            <a:off x="6355080" y="3685032"/>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GuardAgent</a:t>
            </a:r>
            <a:endParaRPr lang="en-US" sz="1250" dirty="0"/>
          </a:p>
        </p:txBody>
      </p:sp>
      <p:sp>
        <p:nvSpPr>
          <p:cNvPr id="28" name="Text 26"/>
          <p:cNvSpPr/>
          <p:nvPr/>
        </p:nvSpPr>
        <p:spPr>
          <a:xfrm>
            <a:off x="6355080" y="4105656"/>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DataSentinel</a:t>
            </a:r>
            <a:endParaRPr lang="en-US" sz="1250" dirty="0"/>
          </a:p>
        </p:txBody>
      </p:sp>
      <p:sp>
        <p:nvSpPr>
          <p:cNvPr id="29" name="Text 27"/>
          <p:cNvSpPr/>
          <p:nvPr/>
        </p:nvSpPr>
        <p:spPr>
          <a:xfrm>
            <a:off x="6355080" y="4526280"/>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StruQ / SecAlign</a:t>
            </a:r>
            <a:endParaRPr lang="en-US" sz="1250" dirty="0"/>
          </a:p>
        </p:txBody>
      </p:sp>
      <p:sp>
        <p:nvSpPr>
          <p:cNvPr id="30" name="Text 28"/>
          <p:cNvSpPr/>
          <p:nvPr/>
        </p:nvSpPr>
        <p:spPr>
          <a:xfrm>
            <a:off x="6355080" y="4946904"/>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ASB</a:t>
            </a:r>
            <a:endParaRPr lang="en-US" sz="1250" dirty="0"/>
          </a:p>
        </p:txBody>
      </p:sp>
      <p:sp>
        <p:nvSpPr>
          <p:cNvPr id="31" name="Shape 29"/>
          <p:cNvSpPr/>
          <p:nvPr/>
        </p:nvSpPr>
        <p:spPr>
          <a:xfrm>
            <a:off x="8842248" y="3314700"/>
            <a:ext cx="192024" cy="914"/>
          </a:xfrm>
          <a:prstGeom prst="line">
            <a:avLst/>
          </a:prstGeom>
          <a:noFill/>
          <a:ln w="19050">
            <a:solidFill>
              <a:srgbClr val="707B8A"/>
            </a:solidFill>
            <a:prstDash val="solid"/>
            <a:tailEnd type="triangle"/>
          </a:ln>
        </p:spPr>
      </p:sp>
      <p:sp>
        <p:nvSpPr>
          <p:cNvPr id="32" name="Shape 30"/>
          <p:cNvSpPr/>
          <p:nvPr/>
        </p:nvSpPr>
        <p:spPr>
          <a:xfrm>
            <a:off x="9052560" y="1097280"/>
            <a:ext cx="2606040" cy="4434840"/>
          </a:xfrm>
          <a:prstGeom prst="roundRect">
            <a:avLst>
              <a:gd name="adj" fmla="val 2105"/>
            </a:avLst>
          </a:prstGeom>
          <a:solidFill>
            <a:srgbClr val="F3F5F8"/>
          </a:solidFill>
          <a:ln w="12700">
            <a:solidFill>
              <a:srgbClr val="CDD5DF"/>
            </a:solidFill>
            <a:prstDash val="solid"/>
          </a:ln>
        </p:spPr>
      </p:sp>
      <p:sp>
        <p:nvSpPr>
          <p:cNvPr id="33" name="Text 31"/>
          <p:cNvSpPr/>
          <p:nvPr/>
        </p:nvSpPr>
        <p:spPr>
          <a:xfrm>
            <a:off x="9189720" y="1261872"/>
            <a:ext cx="2331720" cy="384048"/>
          </a:xfrm>
          <a:prstGeom prst="rect">
            <a:avLst/>
          </a:prstGeom>
          <a:noFill/>
          <a:ln/>
        </p:spPr>
        <p:txBody>
          <a:bodyPr wrap="square" lIns="0" tIns="0" rIns="0" bIns="0" rtlCol="0" anchor="ctr"/>
          <a:lstStyle/>
          <a:p>
            <a:pPr algn="l" indent="0" marL="0">
              <a:buNone/>
            </a:pPr>
            <a:r>
              <a:rPr lang="en-US" sz="2200" b="1" dirty="0">
                <a:solidFill>
                  <a:srgbClr val="8A6D00"/>
                </a:solidFill>
                <a:latin typeface="Cambria" pitchFamily="34" charset="0"/>
                <a:ea typeface="Cambria" pitchFamily="34" charset="-122"/>
                <a:cs typeface="Cambria" pitchFamily="34" charset="-120"/>
              </a:rPr>
              <a:t>2025–26</a:t>
            </a:r>
            <a:endParaRPr lang="en-US" sz="2200" dirty="0"/>
          </a:p>
        </p:txBody>
      </p:sp>
      <p:sp>
        <p:nvSpPr>
          <p:cNvPr id="34" name="Text 32"/>
          <p:cNvSpPr/>
          <p:nvPr/>
        </p:nvSpPr>
        <p:spPr>
          <a:xfrm>
            <a:off x="9189720" y="1664208"/>
            <a:ext cx="2331720" cy="502920"/>
          </a:xfrm>
          <a:prstGeom prst="rect">
            <a:avLst/>
          </a:prstGeom>
          <a:noFill/>
          <a:ln/>
        </p:spPr>
        <p:txBody>
          <a:bodyPr wrap="square" lIns="0" tIns="0" rIns="0" bIns="0" rtlCol="0" anchor="ctr"/>
          <a:lstStyle/>
          <a:p>
            <a:pPr algn="l" indent="0" marL="0">
              <a:buNone/>
            </a:pPr>
            <a:r>
              <a:rPr lang="en-US" sz="1300" b="1" dirty="0">
                <a:solidFill>
                  <a:srgbClr val="16202A"/>
                </a:solidFill>
                <a:latin typeface="Calibri" pitchFamily="34" charset="0"/>
                <a:ea typeface="Calibri" pitchFamily="34" charset="-122"/>
                <a:cs typeface="Calibri" pitchFamily="34" charset="-120"/>
              </a:rPr>
              <a:t>MCP / TOOL SECURITY</a:t>
            </a:r>
            <a:endParaRPr lang="en-US" sz="1300" dirty="0"/>
          </a:p>
        </p:txBody>
      </p:sp>
      <p:sp>
        <p:nvSpPr>
          <p:cNvPr id="35" name="Shape 33"/>
          <p:cNvSpPr/>
          <p:nvPr/>
        </p:nvSpPr>
        <p:spPr>
          <a:xfrm>
            <a:off x="9189720" y="2267712"/>
            <a:ext cx="2331720" cy="914"/>
          </a:xfrm>
          <a:prstGeom prst="line">
            <a:avLst/>
          </a:prstGeom>
          <a:noFill/>
          <a:ln w="9525">
            <a:solidFill>
              <a:srgbClr val="CDD5DF"/>
            </a:solidFill>
            <a:prstDash val="solid"/>
          </a:ln>
        </p:spPr>
      </p:sp>
      <p:sp>
        <p:nvSpPr>
          <p:cNvPr id="36" name="Text 34"/>
          <p:cNvSpPr/>
          <p:nvPr/>
        </p:nvSpPr>
        <p:spPr>
          <a:xfrm>
            <a:off x="9189720" y="2423160"/>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MCPTox</a:t>
            </a:r>
            <a:endParaRPr lang="en-US" sz="1250" dirty="0"/>
          </a:p>
        </p:txBody>
      </p:sp>
      <p:sp>
        <p:nvSpPr>
          <p:cNvPr id="37" name="Text 35"/>
          <p:cNvSpPr/>
          <p:nvPr/>
        </p:nvSpPr>
        <p:spPr>
          <a:xfrm>
            <a:off x="9189720" y="2843784"/>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MCP Threat Modeling</a:t>
            </a:r>
            <a:endParaRPr lang="en-US" sz="1250" dirty="0"/>
          </a:p>
        </p:txBody>
      </p:sp>
      <p:sp>
        <p:nvSpPr>
          <p:cNvPr id="38" name="Text 36"/>
          <p:cNvSpPr/>
          <p:nvPr/>
        </p:nvSpPr>
        <p:spPr>
          <a:xfrm>
            <a:off x="9189720" y="3264408"/>
            <a:ext cx="2331720" cy="384048"/>
          </a:xfrm>
          <a:prstGeom prst="rect">
            <a:avLst/>
          </a:prstGeom>
          <a:noFill/>
          <a:ln/>
        </p:spPr>
        <p:txBody>
          <a:bodyPr wrap="square" lIns="0" tIns="0" rIns="0" bIns="0" rtlCol="0" anchor="ctr"/>
          <a:lstStyle/>
          <a:p>
            <a:pPr algn="l" indent="0" marL="0">
              <a:buNone/>
            </a:pPr>
            <a:r>
              <a:rPr lang="en-US" sz="1250" dirty="0">
                <a:solidFill>
                  <a:srgbClr val="55606C"/>
                </a:solidFill>
                <a:latin typeface="Calibri" pitchFamily="34" charset="0"/>
                <a:ea typeface="Calibri" pitchFamily="34" charset="-122"/>
                <a:cs typeface="Calibri" pitchFamily="34" charset="-120"/>
              </a:rPr>
              <a:t>AgentSpec</a:t>
            </a:r>
            <a:endParaRPr lang="en-US" sz="1250" dirty="0"/>
          </a:p>
        </p:txBody>
      </p:sp>
      <p:sp>
        <p:nvSpPr>
          <p:cNvPr id="39" name="Shape 37"/>
          <p:cNvSpPr/>
          <p:nvPr/>
        </p:nvSpPr>
        <p:spPr>
          <a:xfrm>
            <a:off x="548640" y="5742432"/>
            <a:ext cx="11091672" cy="749808"/>
          </a:xfrm>
          <a:prstGeom prst="roundRect">
            <a:avLst>
              <a:gd name="adj" fmla="val 7317"/>
            </a:avLst>
          </a:prstGeom>
          <a:solidFill>
            <a:srgbClr val="EAEDF2"/>
          </a:solidFill>
          <a:ln w="12700">
            <a:solidFill>
              <a:srgbClr val="F2B705"/>
            </a:solidFill>
            <a:prstDash val="solid"/>
          </a:ln>
        </p:spPr>
      </p:sp>
      <p:sp>
        <p:nvSpPr>
          <p:cNvPr id="40" name="Text 38"/>
          <p:cNvSpPr/>
          <p:nvPr/>
        </p:nvSpPr>
        <p:spPr>
          <a:xfrm>
            <a:off x="822960" y="5742432"/>
            <a:ext cx="10515600" cy="749808"/>
          </a:xfrm>
          <a:prstGeom prst="rect">
            <a:avLst/>
          </a:prstGeom>
          <a:noFill/>
          <a:ln/>
        </p:spPr>
        <p:txBody>
          <a:bodyPr wrap="square" lIns="0" tIns="0" rIns="0" bIns="0" rtlCol="0" anchor="ctr"/>
          <a:lstStyle/>
          <a:p>
            <a:pPr algn="ctr" indent="0" marL="0">
              <a:buNone/>
            </a:pPr>
            <a:r>
              <a:rPr lang="en-US" sz="1300" b="1" i="1" dirty="0">
                <a:solidFill>
                  <a:srgbClr val="8A6D00"/>
                </a:solidFill>
                <a:latin typeface="Calibri" pitchFamily="34" charset="0"/>
                <a:ea typeface="Calibri" pitchFamily="34" charset="-122"/>
                <a:cs typeface="Calibri" pitchFamily="34" charset="-120"/>
              </a:rPr>
              <a:t>Key observation:  </a:t>
            </a:r>
            <a:pPr algn="ctr" indent="0" marL="0">
              <a:buNone/>
            </a:pPr>
            <a:r>
              <a:rPr lang="en-US" sz="1300" i="1" dirty="0">
                <a:solidFill>
                  <a:srgbClr val="16202A"/>
                </a:solidFill>
                <a:latin typeface="Calibri" pitchFamily="34" charset="0"/>
                <a:ea typeface="Calibri" pitchFamily="34" charset="-122"/>
                <a:cs typeface="Calibri" pitchFamily="34" charset="-120"/>
              </a:rPr>
              <a:t>Research has evolved from identifying attacks → benchmarking attacks → building individual defenses → toward runtime enforcement.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6202A"/>
                </a:solidFill>
                <a:latin typeface="Cambria" pitchFamily="34" charset="0"/>
                <a:ea typeface="Cambria" pitchFamily="34" charset="-122"/>
                <a:cs typeface="Cambria" pitchFamily="34" charset="-120"/>
              </a:rPr>
              <a:t>Limitations of Existing Approaches</a:t>
            </a:r>
            <a:endParaRPr lang="en-US" sz="3000" dirty="0"/>
          </a:p>
        </p:txBody>
      </p:sp>
      <p:sp>
        <p:nvSpPr>
          <p:cNvPr id="3" name="Text 1"/>
          <p:cNvSpPr/>
          <p:nvPr/>
        </p:nvSpPr>
        <p:spPr>
          <a:xfrm>
            <a:off x="10881360" y="6510528"/>
            <a:ext cx="914400" cy="274320"/>
          </a:xfrm>
          <a:prstGeom prst="rect">
            <a:avLst/>
          </a:prstGeom>
          <a:noFill/>
          <a:ln/>
        </p:spPr>
        <p:txBody>
          <a:bodyPr wrap="square" lIns="0" tIns="0" rIns="0" bIns="0" rtlCol="0" anchor="ctr"/>
          <a:lstStyle/>
          <a:p>
            <a:pPr algn="r" indent="0" marL="0">
              <a:buNone/>
            </a:pPr>
            <a:r>
              <a:rPr lang="en-US" sz="900" dirty="0">
                <a:solidFill>
                  <a:srgbClr val="707B8A"/>
                </a:solidFill>
                <a:latin typeface="Calibri" pitchFamily="34" charset="0"/>
                <a:ea typeface="Calibri" pitchFamily="34" charset="-122"/>
                <a:cs typeface="Calibri" pitchFamily="34" charset="-120"/>
              </a:rPr>
              <a:t>05 / 06</a:t>
            </a:r>
            <a:endParaRPr lang="en-US" sz="900" dirty="0"/>
          </a:p>
        </p:txBody>
      </p:sp>
      <p:sp>
        <p:nvSpPr>
          <p:cNvPr id="4" name="Shape 2"/>
          <p:cNvSpPr/>
          <p:nvPr/>
        </p:nvSpPr>
        <p:spPr>
          <a:xfrm>
            <a:off x="548640" y="1097280"/>
            <a:ext cx="5349240" cy="1600200"/>
          </a:xfrm>
          <a:prstGeom prst="roundRect">
            <a:avLst>
              <a:gd name="adj" fmla="val 3429"/>
            </a:avLst>
          </a:prstGeom>
          <a:solidFill>
            <a:srgbClr val="F3F5F8"/>
          </a:solidFill>
          <a:ln w="12700">
            <a:solidFill>
              <a:srgbClr val="CDD5DF"/>
            </a:solidFill>
            <a:prstDash val="solid"/>
          </a:ln>
        </p:spPr>
      </p:sp>
      <p:sp>
        <p:nvSpPr>
          <p:cNvPr id="5" name="Shape 3"/>
          <p:cNvSpPr/>
          <p:nvPr/>
        </p:nvSpPr>
        <p:spPr>
          <a:xfrm>
            <a:off x="777240" y="1298448"/>
            <a:ext cx="457200" cy="457200"/>
          </a:xfrm>
          <a:prstGeom prst="oval">
            <a:avLst/>
          </a:prstGeom>
          <a:solidFill>
            <a:srgbClr val="FFF6D9"/>
          </a:solidFill>
          <a:ln w="15875">
            <a:solidFill>
              <a:srgbClr val="F2B705"/>
            </a:solidFill>
            <a:prstDash val="solid"/>
          </a:ln>
        </p:spPr>
      </p:sp>
      <p:sp>
        <p:nvSpPr>
          <p:cNvPr id="6" name="Text 4"/>
          <p:cNvSpPr/>
          <p:nvPr/>
        </p:nvSpPr>
        <p:spPr>
          <a:xfrm>
            <a:off x="777240" y="1298448"/>
            <a:ext cx="457200" cy="457200"/>
          </a:xfrm>
          <a:prstGeom prst="rect">
            <a:avLst/>
          </a:prstGeom>
          <a:noFill/>
          <a:ln/>
        </p:spPr>
        <p:txBody>
          <a:bodyPr wrap="square" lIns="0" tIns="0" rIns="0" bIns="0" rtlCol="0" anchor="ctr"/>
          <a:lstStyle/>
          <a:p>
            <a:pPr algn="ctr" indent="0" marL="0">
              <a:buNone/>
            </a:pPr>
            <a:r>
              <a:rPr lang="en-US" sz="1800" b="1" dirty="0">
                <a:solidFill>
                  <a:srgbClr val="8A6D00"/>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17320" y="1280160"/>
            <a:ext cx="4251960" cy="384048"/>
          </a:xfrm>
          <a:prstGeom prst="rect">
            <a:avLst/>
          </a:prstGeom>
          <a:noFill/>
          <a:ln/>
        </p:spPr>
        <p:txBody>
          <a:bodyPr wrap="square" lIns="0" tIns="0" rIns="0" bIns="0" rtlCol="0" anchor="ctr"/>
          <a:lstStyle/>
          <a:p>
            <a:pPr algn="l" indent="0" marL="0">
              <a:buNone/>
            </a:pPr>
            <a:r>
              <a:rPr lang="en-US" sz="1550" b="1" dirty="0">
                <a:solidFill>
                  <a:srgbClr val="16202A"/>
                </a:solidFill>
                <a:latin typeface="Calibri" pitchFamily="34" charset="0"/>
                <a:ea typeface="Calibri" pitchFamily="34" charset="-122"/>
                <a:cs typeface="Calibri" pitchFamily="34" charset="-120"/>
              </a:rPr>
              <a:t>Fragmented Defense</a:t>
            </a:r>
            <a:endParaRPr lang="en-US" sz="1550" dirty="0"/>
          </a:p>
        </p:txBody>
      </p:sp>
      <p:sp>
        <p:nvSpPr>
          <p:cNvPr id="8" name="Text 6"/>
          <p:cNvSpPr/>
          <p:nvPr/>
        </p:nvSpPr>
        <p:spPr>
          <a:xfrm>
            <a:off x="1417320" y="1664208"/>
            <a:ext cx="4251960" cy="914400"/>
          </a:xfrm>
          <a:prstGeom prst="rect">
            <a:avLst/>
          </a:prstGeom>
          <a:noFill/>
          <a:ln/>
        </p:spPr>
        <p:txBody>
          <a:bodyPr wrap="square" lIns="0" tIns="0" rIns="0" bIns="0" rtlCol="0" anchor="ctr"/>
          <a:lstStyle/>
          <a:p>
            <a:pPr algn="l" indent="0" marL="0">
              <a:lnSpc>
                <a:spcPct val="120000"/>
              </a:lnSpc>
              <a:buNone/>
            </a:pPr>
            <a:r>
              <a:rPr lang="en-US" sz="1250" dirty="0">
                <a:solidFill>
                  <a:srgbClr val="55606C"/>
                </a:solidFill>
                <a:latin typeface="Calibri" pitchFamily="34" charset="0"/>
                <a:ea typeface="Calibri" pitchFamily="34" charset="-122"/>
                <a:cs typeface="Calibri" pitchFamily="34" charset="-120"/>
              </a:rPr>
              <a:t>Existing systems generally focus on one security layer.</a:t>
            </a:r>
            <a:endParaRPr lang="en-US" sz="1250" dirty="0"/>
          </a:p>
        </p:txBody>
      </p:sp>
      <p:sp>
        <p:nvSpPr>
          <p:cNvPr id="9" name="Shape 7"/>
          <p:cNvSpPr/>
          <p:nvPr/>
        </p:nvSpPr>
        <p:spPr>
          <a:xfrm>
            <a:off x="6263640" y="1097280"/>
            <a:ext cx="5349240" cy="1600200"/>
          </a:xfrm>
          <a:prstGeom prst="roundRect">
            <a:avLst>
              <a:gd name="adj" fmla="val 3429"/>
            </a:avLst>
          </a:prstGeom>
          <a:solidFill>
            <a:srgbClr val="F3F5F8"/>
          </a:solidFill>
          <a:ln w="12700">
            <a:solidFill>
              <a:srgbClr val="CDD5DF"/>
            </a:solidFill>
            <a:prstDash val="solid"/>
          </a:ln>
        </p:spPr>
      </p:sp>
      <p:sp>
        <p:nvSpPr>
          <p:cNvPr id="10" name="Shape 8"/>
          <p:cNvSpPr/>
          <p:nvPr/>
        </p:nvSpPr>
        <p:spPr>
          <a:xfrm>
            <a:off x="6492240" y="1298448"/>
            <a:ext cx="457200" cy="457200"/>
          </a:xfrm>
          <a:prstGeom prst="oval">
            <a:avLst/>
          </a:prstGeom>
          <a:solidFill>
            <a:srgbClr val="FFF6D9"/>
          </a:solidFill>
          <a:ln w="15875">
            <a:solidFill>
              <a:srgbClr val="F2B705"/>
            </a:solidFill>
            <a:prstDash val="solid"/>
          </a:ln>
        </p:spPr>
      </p:sp>
      <p:sp>
        <p:nvSpPr>
          <p:cNvPr id="11" name="Text 9"/>
          <p:cNvSpPr/>
          <p:nvPr/>
        </p:nvSpPr>
        <p:spPr>
          <a:xfrm>
            <a:off x="6492240" y="1298448"/>
            <a:ext cx="457200" cy="457200"/>
          </a:xfrm>
          <a:prstGeom prst="rect">
            <a:avLst/>
          </a:prstGeom>
          <a:noFill/>
          <a:ln/>
        </p:spPr>
        <p:txBody>
          <a:bodyPr wrap="square" lIns="0" tIns="0" rIns="0" bIns="0" rtlCol="0" anchor="ctr"/>
          <a:lstStyle/>
          <a:p>
            <a:pPr algn="ctr" indent="0" marL="0">
              <a:buNone/>
            </a:pPr>
            <a:r>
              <a:rPr lang="en-US" sz="1800" b="1" dirty="0">
                <a:solidFill>
                  <a:srgbClr val="8A6D00"/>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132320" y="1280160"/>
            <a:ext cx="4251960" cy="384048"/>
          </a:xfrm>
          <a:prstGeom prst="rect">
            <a:avLst/>
          </a:prstGeom>
          <a:noFill/>
          <a:ln/>
        </p:spPr>
        <p:txBody>
          <a:bodyPr wrap="square" lIns="0" tIns="0" rIns="0" bIns="0" rtlCol="0" anchor="ctr"/>
          <a:lstStyle/>
          <a:p>
            <a:pPr algn="l" indent="0" marL="0">
              <a:buNone/>
            </a:pPr>
            <a:r>
              <a:rPr lang="en-US" sz="1550" b="1" dirty="0">
                <a:solidFill>
                  <a:srgbClr val="16202A"/>
                </a:solidFill>
                <a:latin typeface="Calibri" pitchFamily="34" charset="0"/>
                <a:ea typeface="Calibri" pitchFamily="34" charset="-122"/>
                <a:cs typeface="Calibri" pitchFamily="34" charset="-120"/>
              </a:rPr>
              <a:t>Limited Tool-Level Protection</a:t>
            </a:r>
            <a:endParaRPr lang="en-US" sz="1550" dirty="0"/>
          </a:p>
        </p:txBody>
      </p:sp>
      <p:sp>
        <p:nvSpPr>
          <p:cNvPr id="13" name="Text 11"/>
          <p:cNvSpPr/>
          <p:nvPr/>
        </p:nvSpPr>
        <p:spPr>
          <a:xfrm>
            <a:off x="7132320" y="1664208"/>
            <a:ext cx="4251960" cy="914400"/>
          </a:xfrm>
          <a:prstGeom prst="rect">
            <a:avLst/>
          </a:prstGeom>
          <a:noFill/>
          <a:ln/>
        </p:spPr>
        <p:txBody>
          <a:bodyPr wrap="square" lIns="0" tIns="0" rIns="0" bIns="0" rtlCol="0" anchor="ctr"/>
          <a:lstStyle/>
          <a:p>
            <a:pPr algn="l" indent="0" marL="0">
              <a:lnSpc>
                <a:spcPct val="120000"/>
              </a:lnSpc>
              <a:buNone/>
            </a:pPr>
            <a:r>
              <a:rPr lang="en-US" sz="1250" dirty="0">
                <a:solidFill>
                  <a:srgbClr val="55606C"/>
                </a:solidFill>
                <a:latin typeface="Calibri" pitchFamily="34" charset="0"/>
                <a:ea typeface="Calibri" pitchFamily="34" charset="-122"/>
                <a:cs typeface="Calibri" pitchFamily="34" charset="-120"/>
              </a:rPr>
              <a:t>Prompt injection detection does not automatically authorize or block unsafe tool calls.</a:t>
            </a:r>
            <a:endParaRPr lang="en-US" sz="1250" dirty="0"/>
          </a:p>
        </p:txBody>
      </p:sp>
      <p:sp>
        <p:nvSpPr>
          <p:cNvPr id="14" name="Shape 12"/>
          <p:cNvSpPr/>
          <p:nvPr/>
        </p:nvSpPr>
        <p:spPr>
          <a:xfrm>
            <a:off x="548640" y="2926080"/>
            <a:ext cx="5349240" cy="1600200"/>
          </a:xfrm>
          <a:prstGeom prst="roundRect">
            <a:avLst>
              <a:gd name="adj" fmla="val 3429"/>
            </a:avLst>
          </a:prstGeom>
          <a:solidFill>
            <a:srgbClr val="F3F5F8"/>
          </a:solidFill>
          <a:ln w="12700">
            <a:solidFill>
              <a:srgbClr val="CDD5DF"/>
            </a:solidFill>
            <a:prstDash val="solid"/>
          </a:ln>
        </p:spPr>
      </p:sp>
      <p:sp>
        <p:nvSpPr>
          <p:cNvPr id="15" name="Shape 13"/>
          <p:cNvSpPr/>
          <p:nvPr/>
        </p:nvSpPr>
        <p:spPr>
          <a:xfrm>
            <a:off x="777240" y="3127248"/>
            <a:ext cx="457200" cy="457200"/>
          </a:xfrm>
          <a:prstGeom prst="oval">
            <a:avLst/>
          </a:prstGeom>
          <a:solidFill>
            <a:srgbClr val="FFF6D9"/>
          </a:solidFill>
          <a:ln w="15875">
            <a:solidFill>
              <a:srgbClr val="F2B705"/>
            </a:solidFill>
            <a:prstDash val="solid"/>
          </a:ln>
        </p:spPr>
      </p:sp>
      <p:sp>
        <p:nvSpPr>
          <p:cNvPr id="16" name="Text 14"/>
          <p:cNvSpPr/>
          <p:nvPr/>
        </p:nvSpPr>
        <p:spPr>
          <a:xfrm>
            <a:off x="777240" y="3127248"/>
            <a:ext cx="457200" cy="457200"/>
          </a:xfrm>
          <a:prstGeom prst="rect">
            <a:avLst/>
          </a:prstGeom>
          <a:noFill/>
          <a:ln/>
        </p:spPr>
        <p:txBody>
          <a:bodyPr wrap="square" lIns="0" tIns="0" rIns="0" bIns="0" rtlCol="0" anchor="ctr"/>
          <a:lstStyle/>
          <a:p>
            <a:pPr algn="ctr" indent="0" marL="0">
              <a:buNone/>
            </a:pPr>
            <a:r>
              <a:rPr lang="en-US" sz="1800" b="1" dirty="0">
                <a:solidFill>
                  <a:srgbClr val="8A6D00"/>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417320" y="3108960"/>
            <a:ext cx="4251960" cy="384048"/>
          </a:xfrm>
          <a:prstGeom prst="rect">
            <a:avLst/>
          </a:prstGeom>
          <a:noFill/>
          <a:ln/>
        </p:spPr>
        <p:txBody>
          <a:bodyPr wrap="square" lIns="0" tIns="0" rIns="0" bIns="0" rtlCol="0" anchor="ctr"/>
          <a:lstStyle/>
          <a:p>
            <a:pPr algn="l" indent="0" marL="0">
              <a:buNone/>
            </a:pPr>
            <a:r>
              <a:rPr lang="en-US" sz="1550" b="1" dirty="0">
                <a:solidFill>
                  <a:srgbClr val="16202A"/>
                </a:solidFill>
                <a:latin typeface="Calibri" pitchFamily="34" charset="0"/>
                <a:ea typeface="Calibri" pitchFamily="34" charset="-122"/>
                <a:cs typeface="Calibri" pitchFamily="34" charset="-120"/>
              </a:rPr>
              <a:t>MCP Tool Poisoning</a:t>
            </a:r>
            <a:endParaRPr lang="en-US" sz="1550" dirty="0"/>
          </a:p>
        </p:txBody>
      </p:sp>
      <p:sp>
        <p:nvSpPr>
          <p:cNvPr id="18" name="Text 16"/>
          <p:cNvSpPr/>
          <p:nvPr/>
        </p:nvSpPr>
        <p:spPr>
          <a:xfrm>
            <a:off x="1417320" y="3493008"/>
            <a:ext cx="4251960" cy="914400"/>
          </a:xfrm>
          <a:prstGeom prst="rect">
            <a:avLst/>
          </a:prstGeom>
          <a:noFill/>
          <a:ln/>
        </p:spPr>
        <p:txBody>
          <a:bodyPr wrap="square" lIns="0" tIns="0" rIns="0" bIns="0" rtlCol="0" anchor="ctr"/>
          <a:lstStyle/>
          <a:p>
            <a:pPr algn="l" indent="0" marL="0">
              <a:lnSpc>
                <a:spcPct val="120000"/>
              </a:lnSpc>
              <a:buNone/>
            </a:pPr>
            <a:r>
              <a:rPr lang="en-US" sz="1250" dirty="0">
                <a:solidFill>
                  <a:srgbClr val="55606C"/>
                </a:solidFill>
                <a:latin typeface="Calibri" pitchFamily="34" charset="0"/>
                <a:ea typeface="Calibri" pitchFamily="34" charset="-122"/>
                <a:cs typeface="Calibri" pitchFamily="34" charset="-120"/>
              </a:rPr>
              <a:t>Identified as a serious threat, but practical client-side runtime defenses remain limited.</a:t>
            </a:r>
            <a:endParaRPr lang="en-US" sz="1250" dirty="0"/>
          </a:p>
        </p:txBody>
      </p:sp>
      <p:sp>
        <p:nvSpPr>
          <p:cNvPr id="19" name="Shape 17"/>
          <p:cNvSpPr/>
          <p:nvPr/>
        </p:nvSpPr>
        <p:spPr>
          <a:xfrm>
            <a:off x="6263640" y="2926080"/>
            <a:ext cx="5349240" cy="1600200"/>
          </a:xfrm>
          <a:prstGeom prst="roundRect">
            <a:avLst>
              <a:gd name="adj" fmla="val 3429"/>
            </a:avLst>
          </a:prstGeom>
          <a:solidFill>
            <a:srgbClr val="F3F5F8"/>
          </a:solidFill>
          <a:ln w="12700">
            <a:solidFill>
              <a:srgbClr val="CDD5DF"/>
            </a:solidFill>
            <a:prstDash val="solid"/>
          </a:ln>
        </p:spPr>
      </p:sp>
      <p:sp>
        <p:nvSpPr>
          <p:cNvPr id="20" name="Shape 18"/>
          <p:cNvSpPr/>
          <p:nvPr/>
        </p:nvSpPr>
        <p:spPr>
          <a:xfrm>
            <a:off x="6492240" y="3127248"/>
            <a:ext cx="457200" cy="457200"/>
          </a:xfrm>
          <a:prstGeom prst="oval">
            <a:avLst/>
          </a:prstGeom>
          <a:solidFill>
            <a:srgbClr val="FFF6D9"/>
          </a:solidFill>
          <a:ln w="15875">
            <a:solidFill>
              <a:srgbClr val="F2B705"/>
            </a:solidFill>
            <a:prstDash val="solid"/>
          </a:ln>
        </p:spPr>
      </p:sp>
      <p:sp>
        <p:nvSpPr>
          <p:cNvPr id="21" name="Text 19"/>
          <p:cNvSpPr/>
          <p:nvPr/>
        </p:nvSpPr>
        <p:spPr>
          <a:xfrm>
            <a:off x="6492240" y="3127248"/>
            <a:ext cx="457200" cy="457200"/>
          </a:xfrm>
          <a:prstGeom prst="rect">
            <a:avLst/>
          </a:prstGeom>
          <a:noFill/>
          <a:ln/>
        </p:spPr>
        <p:txBody>
          <a:bodyPr wrap="square" lIns="0" tIns="0" rIns="0" bIns="0" rtlCol="0" anchor="ctr"/>
          <a:lstStyle/>
          <a:p>
            <a:pPr algn="ctr" indent="0" marL="0">
              <a:buNone/>
            </a:pPr>
            <a:r>
              <a:rPr lang="en-US" sz="1800" b="1" dirty="0">
                <a:solidFill>
                  <a:srgbClr val="8A6D00"/>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132320" y="3108960"/>
            <a:ext cx="4251960" cy="384048"/>
          </a:xfrm>
          <a:prstGeom prst="rect">
            <a:avLst/>
          </a:prstGeom>
          <a:noFill/>
          <a:ln/>
        </p:spPr>
        <p:txBody>
          <a:bodyPr wrap="square" lIns="0" tIns="0" rIns="0" bIns="0" rtlCol="0" anchor="ctr"/>
          <a:lstStyle/>
          <a:p>
            <a:pPr algn="l" indent="0" marL="0">
              <a:buNone/>
            </a:pPr>
            <a:r>
              <a:rPr lang="en-US" sz="1550" b="1" dirty="0">
                <a:solidFill>
                  <a:srgbClr val="16202A"/>
                </a:solidFill>
                <a:latin typeface="Calibri" pitchFamily="34" charset="0"/>
                <a:ea typeface="Calibri" pitchFamily="34" charset="-122"/>
                <a:cs typeface="Calibri" pitchFamily="34" charset="-120"/>
              </a:rPr>
              <a:t>Model Dependency</a:t>
            </a:r>
            <a:endParaRPr lang="en-US" sz="1550" dirty="0"/>
          </a:p>
        </p:txBody>
      </p:sp>
      <p:sp>
        <p:nvSpPr>
          <p:cNvPr id="23" name="Text 21"/>
          <p:cNvSpPr/>
          <p:nvPr/>
        </p:nvSpPr>
        <p:spPr>
          <a:xfrm>
            <a:off x="7132320" y="3493008"/>
            <a:ext cx="4251960" cy="914400"/>
          </a:xfrm>
          <a:prstGeom prst="rect">
            <a:avLst/>
          </a:prstGeom>
          <a:noFill/>
          <a:ln/>
        </p:spPr>
        <p:txBody>
          <a:bodyPr wrap="square" lIns="0" tIns="0" rIns="0" bIns="0" rtlCol="0" anchor="ctr"/>
          <a:lstStyle/>
          <a:p>
            <a:pPr algn="l" indent="0" marL="0">
              <a:lnSpc>
                <a:spcPct val="120000"/>
              </a:lnSpc>
              <a:buNone/>
            </a:pPr>
            <a:r>
              <a:rPr lang="en-US" sz="1250" dirty="0">
                <a:solidFill>
                  <a:srgbClr val="55606C"/>
                </a:solidFill>
                <a:latin typeface="Calibri" pitchFamily="34" charset="0"/>
                <a:ea typeface="Calibri" pitchFamily="34" charset="-122"/>
                <a:cs typeface="Calibri" pitchFamily="34" charset="-120"/>
              </a:rPr>
              <a:t>Several defenses rely on fine-tuning or extra LLM reasoning, unsuitable for closed-source or latency-sensitive systems.</a:t>
            </a:r>
            <a:endParaRPr lang="en-US" sz="1250" dirty="0"/>
          </a:p>
        </p:txBody>
      </p:sp>
      <p:sp>
        <p:nvSpPr>
          <p:cNvPr id="24" name="Shape 22"/>
          <p:cNvSpPr/>
          <p:nvPr/>
        </p:nvSpPr>
        <p:spPr>
          <a:xfrm>
            <a:off x="548640" y="5138928"/>
            <a:ext cx="2103120" cy="310896"/>
          </a:xfrm>
          <a:prstGeom prst="roundRect">
            <a:avLst>
              <a:gd name="adj" fmla="val 11765"/>
            </a:avLst>
          </a:prstGeom>
          <a:solidFill>
            <a:srgbClr val="EAEDF2"/>
          </a:solidFill>
          <a:ln w="9525">
            <a:solidFill>
              <a:srgbClr val="CDD5DF"/>
            </a:solidFill>
            <a:prstDash val="solid"/>
          </a:ln>
        </p:spPr>
      </p:sp>
      <p:sp>
        <p:nvSpPr>
          <p:cNvPr id="25" name="Text 23"/>
          <p:cNvSpPr/>
          <p:nvPr/>
        </p:nvSpPr>
        <p:spPr>
          <a:xfrm>
            <a:off x="548640" y="5138928"/>
            <a:ext cx="2103120" cy="310896"/>
          </a:xfrm>
          <a:prstGeom prst="rect">
            <a:avLst/>
          </a:prstGeom>
          <a:noFill/>
          <a:ln/>
        </p:spPr>
        <p:txBody>
          <a:bodyPr wrap="square" lIns="0" tIns="0" rIns="0" bIns="0" rtlCol="0" anchor="ctr"/>
          <a:lstStyle/>
          <a:p>
            <a:pPr algn="ctr" indent="0" marL="0">
              <a:buNone/>
            </a:pPr>
            <a:r>
              <a:rPr lang="en-US" sz="1150" dirty="0">
                <a:solidFill>
                  <a:srgbClr val="16202A"/>
                </a:solidFill>
                <a:latin typeface="Calibri" pitchFamily="34" charset="0"/>
                <a:ea typeface="Calibri" pitchFamily="34" charset="-122"/>
                <a:cs typeface="Calibri" pitchFamily="34" charset="-120"/>
              </a:rPr>
              <a:t>Detection</a:t>
            </a:r>
            <a:endParaRPr lang="en-US" sz="1150" dirty="0"/>
          </a:p>
        </p:txBody>
      </p:sp>
      <p:sp>
        <p:nvSpPr>
          <p:cNvPr id="26" name="Shape 24"/>
          <p:cNvSpPr/>
          <p:nvPr/>
        </p:nvSpPr>
        <p:spPr>
          <a:xfrm>
            <a:off x="2651760" y="5294376"/>
            <a:ext cx="320040" cy="914"/>
          </a:xfrm>
          <a:prstGeom prst="line">
            <a:avLst/>
          </a:prstGeom>
          <a:noFill/>
          <a:ln w="12700">
            <a:solidFill>
              <a:srgbClr val="707B8A"/>
            </a:solidFill>
            <a:prstDash val="solid"/>
          </a:ln>
        </p:spPr>
      </p:sp>
      <p:sp>
        <p:nvSpPr>
          <p:cNvPr id="27" name="Shape 25"/>
          <p:cNvSpPr/>
          <p:nvPr/>
        </p:nvSpPr>
        <p:spPr>
          <a:xfrm>
            <a:off x="548640" y="5468112"/>
            <a:ext cx="2103120" cy="310896"/>
          </a:xfrm>
          <a:prstGeom prst="roundRect">
            <a:avLst>
              <a:gd name="adj" fmla="val 11765"/>
            </a:avLst>
          </a:prstGeom>
          <a:solidFill>
            <a:srgbClr val="EAEDF2"/>
          </a:solidFill>
          <a:ln w="9525">
            <a:solidFill>
              <a:srgbClr val="CDD5DF"/>
            </a:solidFill>
            <a:prstDash val="solid"/>
          </a:ln>
        </p:spPr>
      </p:sp>
      <p:sp>
        <p:nvSpPr>
          <p:cNvPr id="28" name="Text 26"/>
          <p:cNvSpPr/>
          <p:nvPr/>
        </p:nvSpPr>
        <p:spPr>
          <a:xfrm>
            <a:off x="548640" y="5468112"/>
            <a:ext cx="2103120" cy="310896"/>
          </a:xfrm>
          <a:prstGeom prst="rect">
            <a:avLst/>
          </a:prstGeom>
          <a:noFill/>
          <a:ln/>
        </p:spPr>
        <p:txBody>
          <a:bodyPr wrap="square" lIns="0" tIns="0" rIns="0" bIns="0" rtlCol="0" anchor="ctr"/>
          <a:lstStyle/>
          <a:p>
            <a:pPr algn="ctr" indent="0" marL="0">
              <a:buNone/>
            </a:pPr>
            <a:r>
              <a:rPr lang="en-US" sz="1150" dirty="0">
                <a:solidFill>
                  <a:srgbClr val="16202A"/>
                </a:solidFill>
                <a:latin typeface="Calibri" pitchFamily="34" charset="0"/>
                <a:ea typeface="Calibri" pitchFamily="34" charset="-122"/>
                <a:cs typeface="Calibri" pitchFamily="34" charset="-120"/>
              </a:rPr>
              <a:t>Privilege</a:t>
            </a:r>
            <a:endParaRPr lang="en-US" sz="1150" dirty="0"/>
          </a:p>
        </p:txBody>
      </p:sp>
      <p:sp>
        <p:nvSpPr>
          <p:cNvPr id="29" name="Shape 27"/>
          <p:cNvSpPr/>
          <p:nvPr/>
        </p:nvSpPr>
        <p:spPr>
          <a:xfrm>
            <a:off x="2651760" y="5623560"/>
            <a:ext cx="320040" cy="914"/>
          </a:xfrm>
          <a:prstGeom prst="line">
            <a:avLst/>
          </a:prstGeom>
          <a:noFill/>
          <a:ln w="12700">
            <a:solidFill>
              <a:srgbClr val="707B8A"/>
            </a:solidFill>
            <a:prstDash val="solid"/>
          </a:ln>
        </p:spPr>
      </p:sp>
      <p:sp>
        <p:nvSpPr>
          <p:cNvPr id="30" name="Shape 28"/>
          <p:cNvSpPr/>
          <p:nvPr/>
        </p:nvSpPr>
        <p:spPr>
          <a:xfrm>
            <a:off x="548640" y="5797296"/>
            <a:ext cx="2103120" cy="310896"/>
          </a:xfrm>
          <a:prstGeom prst="roundRect">
            <a:avLst>
              <a:gd name="adj" fmla="val 11765"/>
            </a:avLst>
          </a:prstGeom>
          <a:solidFill>
            <a:srgbClr val="EAEDF2"/>
          </a:solidFill>
          <a:ln w="9525">
            <a:solidFill>
              <a:srgbClr val="CDD5DF"/>
            </a:solidFill>
            <a:prstDash val="solid"/>
          </a:ln>
        </p:spPr>
      </p:sp>
      <p:sp>
        <p:nvSpPr>
          <p:cNvPr id="31" name="Text 29"/>
          <p:cNvSpPr/>
          <p:nvPr/>
        </p:nvSpPr>
        <p:spPr>
          <a:xfrm>
            <a:off x="548640" y="5797296"/>
            <a:ext cx="2103120" cy="310896"/>
          </a:xfrm>
          <a:prstGeom prst="rect">
            <a:avLst/>
          </a:prstGeom>
          <a:noFill/>
          <a:ln/>
        </p:spPr>
        <p:txBody>
          <a:bodyPr wrap="square" lIns="0" tIns="0" rIns="0" bIns="0" rtlCol="0" anchor="ctr"/>
          <a:lstStyle/>
          <a:p>
            <a:pPr algn="ctr" indent="0" marL="0">
              <a:buNone/>
            </a:pPr>
            <a:r>
              <a:rPr lang="en-US" sz="1150" dirty="0">
                <a:solidFill>
                  <a:srgbClr val="16202A"/>
                </a:solidFill>
                <a:latin typeface="Calibri" pitchFamily="34" charset="0"/>
                <a:ea typeface="Calibri" pitchFamily="34" charset="-122"/>
                <a:cs typeface="Calibri" pitchFamily="34" charset="-120"/>
              </a:rPr>
              <a:t>Isolation</a:t>
            </a:r>
            <a:endParaRPr lang="en-US" sz="1150" dirty="0"/>
          </a:p>
        </p:txBody>
      </p:sp>
      <p:sp>
        <p:nvSpPr>
          <p:cNvPr id="32" name="Shape 30"/>
          <p:cNvSpPr/>
          <p:nvPr/>
        </p:nvSpPr>
        <p:spPr>
          <a:xfrm>
            <a:off x="2651760" y="5952744"/>
            <a:ext cx="320040" cy="914"/>
          </a:xfrm>
          <a:prstGeom prst="line">
            <a:avLst/>
          </a:prstGeom>
          <a:noFill/>
          <a:ln w="12700">
            <a:solidFill>
              <a:srgbClr val="707B8A"/>
            </a:solidFill>
            <a:prstDash val="solid"/>
          </a:ln>
        </p:spPr>
      </p:sp>
      <p:sp>
        <p:nvSpPr>
          <p:cNvPr id="33" name="Shape 31"/>
          <p:cNvSpPr/>
          <p:nvPr/>
        </p:nvSpPr>
        <p:spPr>
          <a:xfrm>
            <a:off x="548640" y="6126480"/>
            <a:ext cx="2103120" cy="310896"/>
          </a:xfrm>
          <a:prstGeom prst="roundRect">
            <a:avLst>
              <a:gd name="adj" fmla="val 11765"/>
            </a:avLst>
          </a:prstGeom>
          <a:solidFill>
            <a:srgbClr val="EAEDF2"/>
          </a:solidFill>
          <a:ln w="9525">
            <a:solidFill>
              <a:srgbClr val="CDD5DF"/>
            </a:solidFill>
            <a:prstDash val="solid"/>
          </a:ln>
        </p:spPr>
      </p:sp>
      <p:sp>
        <p:nvSpPr>
          <p:cNvPr id="34" name="Text 32"/>
          <p:cNvSpPr/>
          <p:nvPr/>
        </p:nvSpPr>
        <p:spPr>
          <a:xfrm>
            <a:off x="548640" y="6126480"/>
            <a:ext cx="2103120" cy="310896"/>
          </a:xfrm>
          <a:prstGeom prst="rect">
            <a:avLst/>
          </a:prstGeom>
          <a:noFill/>
          <a:ln/>
        </p:spPr>
        <p:txBody>
          <a:bodyPr wrap="square" lIns="0" tIns="0" rIns="0" bIns="0" rtlCol="0" anchor="ctr"/>
          <a:lstStyle/>
          <a:p>
            <a:pPr algn="ctr" indent="0" marL="0">
              <a:buNone/>
            </a:pPr>
            <a:r>
              <a:rPr lang="en-US" sz="1150" dirty="0">
                <a:solidFill>
                  <a:srgbClr val="16202A"/>
                </a:solidFill>
                <a:latin typeface="Calibri" pitchFamily="34" charset="0"/>
                <a:ea typeface="Calibri" pitchFamily="34" charset="-122"/>
                <a:cs typeface="Calibri" pitchFamily="34" charset="-120"/>
              </a:rPr>
              <a:t>Tool Security</a:t>
            </a:r>
            <a:endParaRPr lang="en-US" sz="1150" dirty="0"/>
          </a:p>
        </p:txBody>
      </p:sp>
      <p:sp>
        <p:nvSpPr>
          <p:cNvPr id="35" name="Shape 33"/>
          <p:cNvSpPr/>
          <p:nvPr/>
        </p:nvSpPr>
        <p:spPr>
          <a:xfrm>
            <a:off x="2651760" y="6281928"/>
            <a:ext cx="320040" cy="914"/>
          </a:xfrm>
          <a:prstGeom prst="line">
            <a:avLst/>
          </a:prstGeom>
          <a:noFill/>
          <a:ln w="12700">
            <a:solidFill>
              <a:srgbClr val="707B8A"/>
            </a:solidFill>
            <a:prstDash val="solid"/>
          </a:ln>
        </p:spPr>
      </p:sp>
      <p:sp>
        <p:nvSpPr>
          <p:cNvPr id="36" name="Shape 34"/>
          <p:cNvSpPr/>
          <p:nvPr/>
        </p:nvSpPr>
        <p:spPr>
          <a:xfrm>
            <a:off x="2971800" y="5294376"/>
            <a:ext cx="914" cy="987552"/>
          </a:xfrm>
          <a:prstGeom prst="line">
            <a:avLst/>
          </a:prstGeom>
          <a:noFill/>
          <a:ln w="12700">
            <a:solidFill>
              <a:srgbClr val="707B8A"/>
            </a:solidFill>
            <a:prstDash val="solid"/>
          </a:ln>
        </p:spPr>
      </p:sp>
      <p:sp>
        <p:nvSpPr>
          <p:cNvPr id="37" name="Shape 35"/>
          <p:cNvSpPr/>
          <p:nvPr/>
        </p:nvSpPr>
        <p:spPr>
          <a:xfrm>
            <a:off x="2971800" y="5788152"/>
            <a:ext cx="777240" cy="914"/>
          </a:xfrm>
          <a:prstGeom prst="line">
            <a:avLst/>
          </a:prstGeom>
          <a:noFill/>
          <a:ln w="19050">
            <a:solidFill>
              <a:srgbClr val="707B8A"/>
            </a:solidFill>
            <a:prstDash val="solid"/>
            <a:tailEnd type="triangle"/>
          </a:ln>
        </p:spPr>
      </p:sp>
      <p:sp>
        <p:nvSpPr>
          <p:cNvPr id="38" name="Shape 36"/>
          <p:cNvSpPr/>
          <p:nvPr/>
        </p:nvSpPr>
        <p:spPr>
          <a:xfrm>
            <a:off x="3794760" y="5468112"/>
            <a:ext cx="2834640" cy="640080"/>
          </a:xfrm>
          <a:prstGeom prst="roundRect">
            <a:avLst>
              <a:gd name="adj" fmla="val 8571"/>
            </a:avLst>
          </a:prstGeom>
          <a:solidFill>
            <a:srgbClr val="FFF6D9"/>
          </a:solidFill>
          <a:ln w="19050">
            <a:solidFill>
              <a:srgbClr val="F2B705"/>
            </a:solidFill>
            <a:prstDash val="solid"/>
          </a:ln>
        </p:spPr>
      </p:sp>
      <p:sp>
        <p:nvSpPr>
          <p:cNvPr id="39" name="Text 37"/>
          <p:cNvSpPr/>
          <p:nvPr/>
        </p:nvSpPr>
        <p:spPr>
          <a:xfrm>
            <a:off x="3794760" y="5468112"/>
            <a:ext cx="2834640" cy="640080"/>
          </a:xfrm>
          <a:prstGeom prst="rect">
            <a:avLst/>
          </a:prstGeom>
          <a:noFill/>
          <a:ln/>
        </p:spPr>
        <p:txBody>
          <a:bodyPr wrap="square" lIns="0" tIns="0" rIns="0" bIns="0" rtlCol="0" anchor="ctr"/>
          <a:lstStyle/>
          <a:p>
            <a:pPr algn="ctr" indent="0" marL="0">
              <a:buNone/>
            </a:pPr>
            <a:r>
              <a:rPr lang="en-US" sz="1500" b="1" dirty="0">
                <a:solidFill>
                  <a:srgbClr val="8A6D00"/>
                </a:solidFill>
                <a:latin typeface="Calibri" pitchFamily="34" charset="0"/>
                <a:ea typeface="Calibri" pitchFamily="34" charset="-122"/>
                <a:cs typeface="Calibri" pitchFamily="34" charset="-120"/>
              </a:rPr>
              <a:t>NOT YET UNIFIED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algn="l" indent="0" marL="0">
              <a:buNone/>
            </a:pPr>
            <a:r>
              <a:rPr lang="en-US" sz="3000" b="1" dirty="0">
                <a:solidFill>
                  <a:srgbClr val="16202A"/>
                </a:solidFill>
                <a:latin typeface="Cambria" pitchFamily="34" charset="0"/>
                <a:ea typeface="Cambria" pitchFamily="34" charset="-122"/>
                <a:cs typeface="Cambria" pitchFamily="34" charset="-120"/>
              </a:rPr>
              <a:t>Proposed Direction &amp; Future Work</a:t>
            </a:r>
            <a:endParaRPr lang="en-US" sz="3000" dirty="0"/>
          </a:p>
        </p:txBody>
      </p:sp>
      <p:sp>
        <p:nvSpPr>
          <p:cNvPr id="3" name="Text 1"/>
          <p:cNvSpPr/>
          <p:nvPr/>
        </p:nvSpPr>
        <p:spPr>
          <a:xfrm>
            <a:off x="10881360" y="6510528"/>
            <a:ext cx="914400" cy="274320"/>
          </a:xfrm>
          <a:prstGeom prst="rect">
            <a:avLst/>
          </a:prstGeom>
          <a:noFill/>
          <a:ln/>
        </p:spPr>
        <p:txBody>
          <a:bodyPr wrap="square" lIns="0" tIns="0" rIns="0" bIns="0" rtlCol="0" anchor="ctr"/>
          <a:lstStyle/>
          <a:p>
            <a:pPr algn="r" indent="0" marL="0">
              <a:buNone/>
            </a:pPr>
            <a:r>
              <a:rPr lang="en-US" sz="900" dirty="0">
                <a:solidFill>
                  <a:srgbClr val="707B8A"/>
                </a:solidFill>
                <a:latin typeface="Calibri" pitchFamily="34" charset="0"/>
                <a:ea typeface="Calibri" pitchFamily="34" charset="-122"/>
                <a:cs typeface="Calibri" pitchFamily="34" charset="-120"/>
              </a:rPr>
              <a:t>06 / 06</a:t>
            </a:r>
            <a:endParaRPr lang="en-US" sz="900" dirty="0"/>
          </a:p>
        </p:txBody>
      </p:sp>
      <p:sp>
        <p:nvSpPr>
          <p:cNvPr id="4" name="Text 2"/>
          <p:cNvSpPr/>
          <p:nvPr/>
        </p:nvSpPr>
        <p:spPr>
          <a:xfrm>
            <a:off x="548640" y="1051560"/>
            <a:ext cx="5486400" cy="347472"/>
          </a:xfrm>
          <a:prstGeom prst="rect">
            <a:avLst/>
          </a:prstGeom>
          <a:noFill/>
          <a:ln/>
        </p:spPr>
        <p:txBody>
          <a:bodyPr wrap="square" lIns="0" tIns="0" rIns="0" bIns="0" rtlCol="0" anchor="ctr"/>
          <a:lstStyle/>
          <a:p>
            <a:pPr algn="ctr" indent="0" marL="0">
              <a:buNone/>
            </a:pPr>
            <a:r>
              <a:rPr lang="en-US" sz="1500" b="1" dirty="0">
                <a:solidFill>
                  <a:srgbClr val="16202A"/>
                </a:solidFill>
                <a:latin typeface="Calibri" pitchFamily="34" charset="0"/>
                <a:ea typeface="Calibri" pitchFamily="34" charset="-122"/>
                <a:cs typeface="Calibri" pitchFamily="34" charset="-120"/>
              </a:rPr>
              <a:t>AI AGENT</a:t>
            </a:r>
            <a:endParaRPr lang="en-US" sz="1500" dirty="0"/>
          </a:p>
        </p:txBody>
      </p:sp>
      <p:sp>
        <p:nvSpPr>
          <p:cNvPr id="5" name="Shape 3"/>
          <p:cNvSpPr/>
          <p:nvPr/>
        </p:nvSpPr>
        <p:spPr>
          <a:xfrm>
            <a:off x="3291840" y="1417320"/>
            <a:ext cx="914" cy="274320"/>
          </a:xfrm>
          <a:prstGeom prst="line">
            <a:avLst/>
          </a:prstGeom>
          <a:noFill/>
          <a:ln w="19050">
            <a:solidFill>
              <a:srgbClr val="707B8A"/>
            </a:solidFill>
            <a:prstDash val="solid"/>
            <a:tailEnd type="triangle"/>
          </a:ln>
        </p:spPr>
      </p:sp>
      <p:sp>
        <p:nvSpPr>
          <p:cNvPr id="6" name="Shape 4"/>
          <p:cNvSpPr/>
          <p:nvPr/>
        </p:nvSpPr>
        <p:spPr>
          <a:xfrm>
            <a:off x="914400" y="1764792"/>
            <a:ext cx="4754880" cy="2697480"/>
          </a:xfrm>
          <a:prstGeom prst="roundRect">
            <a:avLst>
              <a:gd name="adj" fmla="val 2034"/>
            </a:avLst>
          </a:prstGeom>
          <a:solidFill>
            <a:srgbClr val="F3F5F8"/>
          </a:solidFill>
          <a:ln w="19050">
            <a:solidFill>
              <a:srgbClr val="F2B705"/>
            </a:solidFill>
            <a:prstDash val="solid"/>
          </a:ln>
        </p:spPr>
      </p:sp>
      <p:sp>
        <p:nvSpPr>
          <p:cNvPr id="7" name="Text 5"/>
          <p:cNvSpPr/>
          <p:nvPr/>
        </p:nvSpPr>
        <p:spPr>
          <a:xfrm>
            <a:off x="914400" y="1892808"/>
            <a:ext cx="4754880" cy="365760"/>
          </a:xfrm>
          <a:prstGeom prst="rect">
            <a:avLst/>
          </a:prstGeom>
          <a:noFill/>
          <a:ln/>
        </p:spPr>
        <p:txBody>
          <a:bodyPr wrap="square" lIns="0" tIns="0" rIns="0" bIns="0" rtlCol="0" anchor="ctr"/>
          <a:lstStyle/>
          <a:p>
            <a:pPr algn="ctr" indent="0" marL="0">
              <a:buNone/>
            </a:pPr>
            <a:r>
              <a:rPr lang="en-US" sz="1550" b="1" dirty="0">
                <a:solidFill>
                  <a:srgbClr val="8A6D00"/>
                </a:solidFill>
                <a:latin typeface="Calibri" pitchFamily="34" charset="0"/>
                <a:ea typeface="Calibri" pitchFamily="34" charset="-122"/>
                <a:cs typeface="Calibri" pitchFamily="34" charset="-120"/>
              </a:rPr>
              <a:t>AI SECURITY GATEWAY</a:t>
            </a:r>
            <a:endParaRPr lang="en-US" sz="1550" dirty="0"/>
          </a:p>
        </p:txBody>
      </p:sp>
      <p:sp>
        <p:nvSpPr>
          <p:cNvPr id="8" name="Shape 6"/>
          <p:cNvSpPr/>
          <p:nvPr/>
        </p:nvSpPr>
        <p:spPr>
          <a:xfrm>
            <a:off x="1143000" y="2295144"/>
            <a:ext cx="4297680" cy="914"/>
          </a:xfrm>
          <a:prstGeom prst="line">
            <a:avLst/>
          </a:prstGeom>
          <a:noFill/>
          <a:ln w="9525">
            <a:solidFill>
              <a:srgbClr val="CDD5DF"/>
            </a:solidFill>
            <a:prstDash val="solid"/>
          </a:ln>
        </p:spPr>
      </p:sp>
      <p:sp>
        <p:nvSpPr>
          <p:cNvPr id="9" name="Text 7"/>
          <p:cNvSpPr/>
          <p:nvPr/>
        </p:nvSpPr>
        <p:spPr>
          <a:xfrm>
            <a:off x="1188720" y="2423160"/>
            <a:ext cx="4206240" cy="274320"/>
          </a:xfrm>
          <a:prstGeom prst="rect">
            <a:avLst/>
          </a:prstGeom>
          <a:noFill/>
          <a:ln/>
        </p:spPr>
        <p:txBody>
          <a:bodyPr wrap="square" lIns="0" tIns="0" rIns="0" bIns="0" rtlCol="0" anchor="ctr"/>
          <a:lstStyle/>
          <a:p>
            <a:pPr algn="l" indent="0" marL="0">
              <a:buNone/>
            </a:pPr>
            <a:r>
              <a:rPr lang="en-US" sz="1200" dirty="0">
                <a:solidFill>
                  <a:srgbClr val="16202A"/>
                </a:solidFill>
                <a:latin typeface="Calibri" pitchFamily="34" charset="0"/>
                <a:ea typeface="Calibri" pitchFamily="34" charset="-122"/>
                <a:cs typeface="Calibri" pitchFamily="34" charset="-120"/>
              </a:rPr>
              <a:t>•  Prompt Injection Detection</a:t>
            </a:r>
            <a:endParaRPr lang="en-US" sz="1200" dirty="0"/>
          </a:p>
        </p:txBody>
      </p:sp>
      <p:sp>
        <p:nvSpPr>
          <p:cNvPr id="10" name="Text 8"/>
          <p:cNvSpPr/>
          <p:nvPr/>
        </p:nvSpPr>
        <p:spPr>
          <a:xfrm>
            <a:off x="1188720" y="2711196"/>
            <a:ext cx="4206240" cy="274320"/>
          </a:xfrm>
          <a:prstGeom prst="rect">
            <a:avLst/>
          </a:prstGeom>
          <a:noFill/>
          <a:ln/>
        </p:spPr>
        <p:txBody>
          <a:bodyPr wrap="square" lIns="0" tIns="0" rIns="0" bIns="0" rtlCol="0" anchor="ctr"/>
          <a:lstStyle/>
          <a:p>
            <a:pPr algn="l" indent="0" marL="0">
              <a:buNone/>
            </a:pPr>
            <a:r>
              <a:rPr lang="en-US" sz="1200" dirty="0">
                <a:solidFill>
                  <a:srgbClr val="16202A"/>
                </a:solidFill>
                <a:latin typeface="Calibri" pitchFamily="34" charset="0"/>
                <a:ea typeface="Calibri" pitchFamily="34" charset="-122"/>
                <a:cs typeface="Calibri" pitchFamily="34" charset="-120"/>
              </a:rPr>
              <a:t>•  Tool Poisoning Detection</a:t>
            </a:r>
            <a:endParaRPr lang="en-US" sz="1200" dirty="0"/>
          </a:p>
        </p:txBody>
      </p:sp>
      <p:sp>
        <p:nvSpPr>
          <p:cNvPr id="11" name="Text 9"/>
          <p:cNvSpPr/>
          <p:nvPr/>
        </p:nvSpPr>
        <p:spPr>
          <a:xfrm>
            <a:off x="1188720" y="2999232"/>
            <a:ext cx="4206240" cy="274320"/>
          </a:xfrm>
          <a:prstGeom prst="rect">
            <a:avLst/>
          </a:prstGeom>
          <a:noFill/>
          <a:ln/>
        </p:spPr>
        <p:txBody>
          <a:bodyPr wrap="square" lIns="0" tIns="0" rIns="0" bIns="0" rtlCol="0" anchor="ctr"/>
          <a:lstStyle/>
          <a:p>
            <a:pPr algn="l" indent="0" marL="0">
              <a:buNone/>
            </a:pPr>
            <a:r>
              <a:rPr lang="en-US" sz="1200" dirty="0">
                <a:solidFill>
                  <a:srgbClr val="16202A"/>
                </a:solidFill>
                <a:latin typeface="Calibri" pitchFamily="34" charset="0"/>
                <a:ea typeface="Calibri" pitchFamily="34" charset="-122"/>
                <a:cs typeface="Calibri" pitchFamily="34" charset="-120"/>
              </a:rPr>
              <a:t>•  Tool Validation</a:t>
            </a:r>
            <a:endParaRPr lang="en-US" sz="1200" dirty="0"/>
          </a:p>
        </p:txBody>
      </p:sp>
      <p:sp>
        <p:nvSpPr>
          <p:cNvPr id="12" name="Text 10"/>
          <p:cNvSpPr/>
          <p:nvPr/>
        </p:nvSpPr>
        <p:spPr>
          <a:xfrm>
            <a:off x="1188720" y="3287268"/>
            <a:ext cx="4206240" cy="274320"/>
          </a:xfrm>
          <a:prstGeom prst="rect">
            <a:avLst/>
          </a:prstGeom>
          <a:noFill/>
          <a:ln/>
        </p:spPr>
        <p:txBody>
          <a:bodyPr wrap="square" lIns="0" tIns="0" rIns="0" bIns="0" rtlCol="0" anchor="ctr"/>
          <a:lstStyle/>
          <a:p>
            <a:pPr algn="l" indent="0" marL="0">
              <a:buNone/>
            </a:pPr>
            <a:r>
              <a:rPr lang="en-US" sz="1200" dirty="0">
                <a:solidFill>
                  <a:srgbClr val="16202A"/>
                </a:solidFill>
                <a:latin typeface="Calibri" pitchFamily="34" charset="0"/>
                <a:ea typeface="Calibri" pitchFamily="34" charset="-122"/>
                <a:cs typeface="Calibri" pitchFamily="34" charset="-120"/>
              </a:rPr>
              <a:t>•  Policy Enforcement</a:t>
            </a:r>
            <a:endParaRPr lang="en-US" sz="1200" dirty="0"/>
          </a:p>
        </p:txBody>
      </p:sp>
      <p:sp>
        <p:nvSpPr>
          <p:cNvPr id="13" name="Text 11"/>
          <p:cNvSpPr/>
          <p:nvPr/>
        </p:nvSpPr>
        <p:spPr>
          <a:xfrm>
            <a:off x="1188720" y="3575304"/>
            <a:ext cx="4206240" cy="274320"/>
          </a:xfrm>
          <a:prstGeom prst="rect">
            <a:avLst/>
          </a:prstGeom>
          <a:noFill/>
          <a:ln/>
        </p:spPr>
        <p:txBody>
          <a:bodyPr wrap="square" lIns="0" tIns="0" rIns="0" bIns="0" rtlCol="0" anchor="ctr"/>
          <a:lstStyle/>
          <a:p>
            <a:pPr algn="l" indent="0" marL="0">
              <a:buNone/>
            </a:pPr>
            <a:r>
              <a:rPr lang="en-US" sz="1200" dirty="0">
                <a:solidFill>
                  <a:srgbClr val="16202A"/>
                </a:solidFill>
                <a:latin typeface="Calibri" pitchFamily="34" charset="0"/>
                <a:ea typeface="Calibri" pitchFamily="34" charset="-122"/>
                <a:cs typeface="Calibri" pitchFamily="34" charset="-120"/>
              </a:rPr>
              <a:t>•  Privilege Control</a:t>
            </a:r>
            <a:endParaRPr lang="en-US" sz="1200" dirty="0"/>
          </a:p>
        </p:txBody>
      </p:sp>
      <p:sp>
        <p:nvSpPr>
          <p:cNvPr id="14" name="Text 12"/>
          <p:cNvSpPr/>
          <p:nvPr/>
        </p:nvSpPr>
        <p:spPr>
          <a:xfrm>
            <a:off x="1188720" y="3863340"/>
            <a:ext cx="4206240" cy="274320"/>
          </a:xfrm>
          <a:prstGeom prst="rect">
            <a:avLst/>
          </a:prstGeom>
          <a:noFill/>
          <a:ln/>
        </p:spPr>
        <p:txBody>
          <a:bodyPr wrap="square" lIns="0" tIns="0" rIns="0" bIns="0" rtlCol="0" anchor="ctr"/>
          <a:lstStyle/>
          <a:p>
            <a:pPr algn="l" indent="0" marL="0">
              <a:buNone/>
            </a:pPr>
            <a:r>
              <a:rPr lang="en-US" sz="1200" dirty="0">
                <a:solidFill>
                  <a:srgbClr val="16202A"/>
                </a:solidFill>
                <a:latin typeface="Calibri" pitchFamily="34" charset="0"/>
                <a:ea typeface="Calibri" pitchFamily="34" charset="-122"/>
                <a:cs typeface="Calibri" pitchFamily="34" charset="-120"/>
              </a:rPr>
              <a:t>•  Runtime Monitoring</a:t>
            </a:r>
            <a:endParaRPr lang="en-US" sz="1200" dirty="0"/>
          </a:p>
        </p:txBody>
      </p:sp>
      <p:sp>
        <p:nvSpPr>
          <p:cNvPr id="15" name="Text 13"/>
          <p:cNvSpPr/>
          <p:nvPr/>
        </p:nvSpPr>
        <p:spPr>
          <a:xfrm>
            <a:off x="1188720" y="4151376"/>
            <a:ext cx="4206240" cy="274320"/>
          </a:xfrm>
          <a:prstGeom prst="rect">
            <a:avLst/>
          </a:prstGeom>
          <a:noFill/>
          <a:ln/>
        </p:spPr>
        <p:txBody>
          <a:bodyPr wrap="square" lIns="0" tIns="0" rIns="0" bIns="0" rtlCol="0" anchor="ctr"/>
          <a:lstStyle/>
          <a:p>
            <a:pPr algn="l" indent="0" marL="0">
              <a:buNone/>
            </a:pPr>
            <a:r>
              <a:rPr lang="en-US" sz="1200" dirty="0">
                <a:solidFill>
                  <a:srgbClr val="16202A"/>
                </a:solidFill>
                <a:latin typeface="Calibri" pitchFamily="34" charset="0"/>
                <a:ea typeface="Calibri" pitchFamily="34" charset="-122"/>
                <a:cs typeface="Calibri" pitchFamily="34" charset="-120"/>
              </a:rPr>
              <a:t>•  Audit Logging</a:t>
            </a:r>
            <a:endParaRPr lang="en-US" sz="1200" dirty="0"/>
          </a:p>
        </p:txBody>
      </p:sp>
      <p:sp>
        <p:nvSpPr>
          <p:cNvPr id="16" name="Shape 14"/>
          <p:cNvSpPr/>
          <p:nvPr/>
        </p:nvSpPr>
        <p:spPr>
          <a:xfrm>
            <a:off x="3291840" y="4489704"/>
            <a:ext cx="914" cy="310896"/>
          </a:xfrm>
          <a:prstGeom prst="line">
            <a:avLst/>
          </a:prstGeom>
          <a:noFill/>
          <a:ln w="19050">
            <a:solidFill>
              <a:srgbClr val="707B8A"/>
            </a:solidFill>
            <a:prstDash val="solid"/>
            <a:tailEnd type="triangle"/>
          </a:ln>
        </p:spPr>
      </p:sp>
      <p:sp>
        <p:nvSpPr>
          <p:cNvPr id="17" name="Text 15"/>
          <p:cNvSpPr/>
          <p:nvPr/>
        </p:nvSpPr>
        <p:spPr>
          <a:xfrm>
            <a:off x="3429000" y="4517136"/>
            <a:ext cx="2011680" cy="274320"/>
          </a:xfrm>
          <a:prstGeom prst="rect">
            <a:avLst/>
          </a:prstGeom>
          <a:noFill/>
          <a:ln/>
        </p:spPr>
        <p:txBody>
          <a:bodyPr wrap="square" lIns="0" tIns="0" rIns="0" bIns="0" rtlCol="0" anchor="ctr"/>
          <a:lstStyle/>
          <a:p>
            <a:pPr algn="l" indent="0" marL="0">
              <a:buNone/>
            </a:pPr>
            <a:r>
              <a:rPr lang="en-US" sz="1100" b="1" dirty="0">
                <a:solidFill>
                  <a:srgbClr val="8A6D00"/>
                </a:solidFill>
                <a:latin typeface="Calibri" pitchFamily="34" charset="0"/>
                <a:ea typeface="Calibri" pitchFamily="34" charset="-122"/>
                <a:cs typeface="Calibri" pitchFamily="34" charset="-120"/>
              </a:rPr>
              <a:t>ALLOW  /  BLOCK</a:t>
            </a:r>
            <a:endParaRPr lang="en-US" sz="1100" dirty="0"/>
          </a:p>
        </p:txBody>
      </p:sp>
      <p:sp>
        <p:nvSpPr>
          <p:cNvPr id="18" name="Text 16"/>
          <p:cNvSpPr/>
          <p:nvPr/>
        </p:nvSpPr>
        <p:spPr>
          <a:xfrm>
            <a:off x="548640" y="4919472"/>
            <a:ext cx="5486400" cy="347472"/>
          </a:xfrm>
          <a:prstGeom prst="rect">
            <a:avLst/>
          </a:prstGeom>
          <a:noFill/>
          <a:ln/>
        </p:spPr>
        <p:txBody>
          <a:bodyPr wrap="square" lIns="0" tIns="0" rIns="0" bIns="0" rtlCol="0" anchor="ctr"/>
          <a:lstStyle/>
          <a:p>
            <a:pPr algn="ctr" indent="0" marL="0">
              <a:buNone/>
            </a:pPr>
            <a:r>
              <a:rPr lang="en-US" sz="1400" b="1" dirty="0">
                <a:solidFill>
                  <a:srgbClr val="16202A"/>
                </a:solidFill>
                <a:latin typeface="Calibri" pitchFamily="34" charset="0"/>
                <a:ea typeface="Calibri" pitchFamily="34" charset="-122"/>
                <a:cs typeface="Calibri" pitchFamily="34" charset="-120"/>
              </a:rPr>
              <a:t>EXTERNAL TOOLS  /  APIs  /  MCP</a:t>
            </a:r>
            <a:endParaRPr lang="en-US" sz="1400" dirty="0"/>
          </a:p>
        </p:txBody>
      </p:sp>
      <p:sp>
        <p:nvSpPr>
          <p:cNvPr id="19" name="Text 17"/>
          <p:cNvSpPr/>
          <p:nvPr/>
        </p:nvSpPr>
        <p:spPr>
          <a:xfrm>
            <a:off x="6446520" y="1051560"/>
            <a:ext cx="5212080" cy="365760"/>
          </a:xfrm>
          <a:prstGeom prst="rect">
            <a:avLst/>
          </a:prstGeom>
          <a:noFill/>
          <a:ln/>
        </p:spPr>
        <p:txBody>
          <a:bodyPr wrap="square" lIns="0" tIns="0" rIns="0" bIns="0" rtlCol="0" anchor="ctr"/>
          <a:lstStyle/>
          <a:p>
            <a:pPr algn="l" indent="0" marL="0">
              <a:buNone/>
            </a:pPr>
            <a:r>
              <a:rPr lang="en-US" sz="1600" b="1" dirty="0">
                <a:solidFill>
                  <a:srgbClr val="16202A"/>
                </a:solidFill>
                <a:latin typeface="Calibri" pitchFamily="34" charset="0"/>
                <a:ea typeface="Calibri" pitchFamily="34" charset="-122"/>
                <a:cs typeface="Calibri" pitchFamily="34" charset="-120"/>
              </a:rPr>
              <a:t>Future Work</a:t>
            </a:r>
            <a:endParaRPr lang="en-US" sz="1600" dirty="0"/>
          </a:p>
        </p:txBody>
      </p:sp>
      <p:sp>
        <p:nvSpPr>
          <p:cNvPr id="20" name="Shape 18"/>
          <p:cNvSpPr/>
          <p:nvPr/>
        </p:nvSpPr>
        <p:spPr>
          <a:xfrm>
            <a:off x="6446520" y="1600200"/>
            <a:ext cx="5212080" cy="658368"/>
          </a:xfrm>
          <a:prstGeom prst="roundRect">
            <a:avLst>
              <a:gd name="adj" fmla="val 8333"/>
            </a:avLst>
          </a:prstGeom>
          <a:solidFill>
            <a:srgbClr val="F3F5F8"/>
          </a:solidFill>
          <a:ln w="12700">
            <a:solidFill>
              <a:srgbClr val="CDD5DF"/>
            </a:solidFill>
            <a:prstDash val="solid"/>
          </a:ln>
        </p:spPr>
      </p:sp>
      <p:sp>
        <p:nvSpPr>
          <p:cNvPr id="21" name="Shape 19"/>
          <p:cNvSpPr/>
          <p:nvPr/>
        </p:nvSpPr>
        <p:spPr>
          <a:xfrm>
            <a:off x="6629400" y="1746504"/>
            <a:ext cx="365760" cy="365760"/>
          </a:xfrm>
          <a:prstGeom prst="oval">
            <a:avLst/>
          </a:prstGeom>
          <a:solidFill>
            <a:srgbClr val="FFF6D9"/>
          </a:solidFill>
          <a:ln w="15875">
            <a:solidFill>
              <a:srgbClr val="F2B705"/>
            </a:solidFill>
            <a:prstDash val="solid"/>
          </a:ln>
        </p:spPr>
      </p:sp>
      <p:sp>
        <p:nvSpPr>
          <p:cNvPr id="22" name="Text 20"/>
          <p:cNvSpPr/>
          <p:nvPr/>
        </p:nvSpPr>
        <p:spPr>
          <a:xfrm>
            <a:off x="6629400" y="1746504"/>
            <a:ext cx="365760" cy="365760"/>
          </a:xfrm>
          <a:prstGeom prst="rect">
            <a:avLst/>
          </a:prstGeom>
          <a:noFill/>
          <a:ln/>
        </p:spPr>
        <p:txBody>
          <a:bodyPr wrap="square" lIns="0" tIns="0" rIns="0" bIns="0" rtlCol="0" anchor="ctr"/>
          <a:lstStyle/>
          <a:p>
            <a:pPr algn="ctr" indent="0" marL="0">
              <a:buNone/>
            </a:pPr>
            <a:r>
              <a:rPr lang="en-US" sz="1400" b="1" dirty="0">
                <a:solidFill>
                  <a:srgbClr val="8A6D00"/>
                </a:solidFill>
                <a:latin typeface="Cambria" pitchFamily="34" charset="0"/>
                <a:ea typeface="Cambria" pitchFamily="34" charset="-122"/>
                <a:cs typeface="Cambria" pitchFamily="34" charset="-120"/>
              </a:rPr>
              <a:t>1</a:t>
            </a:r>
            <a:endParaRPr lang="en-US" sz="1400" dirty="0"/>
          </a:p>
        </p:txBody>
      </p:sp>
      <p:sp>
        <p:nvSpPr>
          <p:cNvPr id="23" name="Text 21"/>
          <p:cNvSpPr/>
          <p:nvPr/>
        </p:nvSpPr>
        <p:spPr>
          <a:xfrm>
            <a:off x="7159752" y="1600200"/>
            <a:ext cx="4297680" cy="658368"/>
          </a:xfrm>
          <a:prstGeom prst="rect">
            <a:avLst/>
          </a:prstGeom>
          <a:noFill/>
          <a:ln/>
        </p:spPr>
        <p:txBody>
          <a:bodyPr wrap="square" lIns="0" tIns="0" rIns="0" bIns="0" rtlCol="0" anchor="ctr"/>
          <a:lstStyle/>
          <a:p>
            <a:pPr algn="l" indent="0" marL="0">
              <a:buNone/>
            </a:pPr>
            <a:r>
              <a:rPr lang="en-US" sz="1300" dirty="0">
                <a:solidFill>
                  <a:srgbClr val="16202A"/>
                </a:solidFill>
                <a:latin typeface="Calibri" pitchFamily="34" charset="0"/>
                <a:ea typeface="Calibri" pitchFamily="34" charset="-122"/>
                <a:cs typeface="Calibri" pitchFamily="34" charset="-120"/>
              </a:rPr>
              <a:t>Build a protocol-aware runtime gateway</a:t>
            </a:r>
            <a:endParaRPr lang="en-US" sz="1300" dirty="0"/>
          </a:p>
        </p:txBody>
      </p:sp>
      <p:sp>
        <p:nvSpPr>
          <p:cNvPr id="24" name="Shape 22"/>
          <p:cNvSpPr/>
          <p:nvPr/>
        </p:nvSpPr>
        <p:spPr>
          <a:xfrm>
            <a:off x="6446520" y="2423160"/>
            <a:ext cx="5212080" cy="658368"/>
          </a:xfrm>
          <a:prstGeom prst="roundRect">
            <a:avLst>
              <a:gd name="adj" fmla="val 8333"/>
            </a:avLst>
          </a:prstGeom>
          <a:solidFill>
            <a:srgbClr val="F3F5F8"/>
          </a:solidFill>
          <a:ln w="12700">
            <a:solidFill>
              <a:srgbClr val="CDD5DF"/>
            </a:solidFill>
            <a:prstDash val="solid"/>
          </a:ln>
        </p:spPr>
      </p:sp>
      <p:sp>
        <p:nvSpPr>
          <p:cNvPr id="25" name="Shape 23"/>
          <p:cNvSpPr/>
          <p:nvPr/>
        </p:nvSpPr>
        <p:spPr>
          <a:xfrm>
            <a:off x="6629400" y="2569464"/>
            <a:ext cx="365760" cy="365760"/>
          </a:xfrm>
          <a:prstGeom prst="oval">
            <a:avLst/>
          </a:prstGeom>
          <a:solidFill>
            <a:srgbClr val="FFF6D9"/>
          </a:solidFill>
          <a:ln w="15875">
            <a:solidFill>
              <a:srgbClr val="F2B705"/>
            </a:solidFill>
            <a:prstDash val="solid"/>
          </a:ln>
        </p:spPr>
      </p:sp>
      <p:sp>
        <p:nvSpPr>
          <p:cNvPr id="26" name="Text 24"/>
          <p:cNvSpPr/>
          <p:nvPr/>
        </p:nvSpPr>
        <p:spPr>
          <a:xfrm>
            <a:off x="6629400" y="2569464"/>
            <a:ext cx="365760" cy="365760"/>
          </a:xfrm>
          <a:prstGeom prst="rect">
            <a:avLst/>
          </a:prstGeom>
          <a:noFill/>
          <a:ln/>
        </p:spPr>
        <p:txBody>
          <a:bodyPr wrap="square" lIns="0" tIns="0" rIns="0" bIns="0" rtlCol="0" anchor="ctr"/>
          <a:lstStyle/>
          <a:p>
            <a:pPr algn="ctr" indent="0" marL="0">
              <a:buNone/>
            </a:pPr>
            <a:r>
              <a:rPr lang="en-US" sz="1400" b="1" dirty="0">
                <a:solidFill>
                  <a:srgbClr val="8A6D00"/>
                </a:solidFill>
                <a:latin typeface="Cambria" pitchFamily="34" charset="0"/>
                <a:ea typeface="Cambria" pitchFamily="34" charset="-122"/>
                <a:cs typeface="Cambria" pitchFamily="34" charset="-120"/>
              </a:rPr>
              <a:t>2</a:t>
            </a:r>
            <a:endParaRPr lang="en-US" sz="1400" dirty="0"/>
          </a:p>
        </p:txBody>
      </p:sp>
      <p:sp>
        <p:nvSpPr>
          <p:cNvPr id="27" name="Text 25"/>
          <p:cNvSpPr/>
          <p:nvPr/>
        </p:nvSpPr>
        <p:spPr>
          <a:xfrm>
            <a:off x="7159752" y="2423160"/>
            <a:ext cx="4297680" cy="658368"/>
          </a:xfrm>
          <a:prstGeom prst="rect">
            <a:avLst/>
          </a:prstGeom>
          <a:noFill/>
          <a:ln/>
        </p:spPr>
        <p:txBody>
          <a:bodyPr wrap="square" lIns="0" tIns="0" rIns="0" bIns="0" rtlCol="0" anchor="ctr"/>
          <a:lstStyle/>
          <a:p>
            <a:pPr algn="l" indent="0" marL="0">
              <a:buNone/>
            </a:pPr>
            <a:r>
              <a:rPr lang="en-US" sz="1300" dirty="0">
                <a:solidFill>
                  <a:srgbClr val="16202A"/>
                </a:solidFill>
                <a:latin typeface="Calibri" pitchFamily="34" charset="0"/>
                <a:ea typeface="Calibri" pitchFamily="34" charset="-122"/>
                <a:cs typeface="Calibri" pitchFamily="34" charset="-120"/>
              </a:rPr>
              <a:t>Implement detection + policy enforcement</a:t>
            </a:r>
            <a:endParaRPr lang="en-US" sz="1300" dirty="0"/>
          </a:p>
        </p:txBody>
      </p:sp>
      <p:sp>
        <p:nvSpPr>
          <p:cNvPr id="28" name="Shape 26"/>
          <p:cNvSpPr/>
          <p:nvPr/>
        </p:nvSpPr>
        <p:spPr>
          <a:xfrm>
            <a:off x="6446520" y="3246120"/>
            <a:ext cx="5212080" cy="658368"/>
          </a:xfrm>
          <a:prstGeom prst="roundRect">
            <a:avLst>
              <a:gd name="adj" fmla="val 8333"/>
            </a:avLst>
          </a:prstGeom>
          <a:solidFill>
            <a:srgbClr val="F3F5F8"/>
          </a:solidFill>
          <a:ln w="12700">
            <a:solidFill>
              <a:srgbClr val="CDD5DF"/>
            </a:solidFill>
            <a:prstDash val="solid"/>
          </a:ln>
        </p:spPr>
      </p:sp>
      <p:sp>
        <p:nvSpPr>
          <p:cNvPr id="29" name="Shape 27"/>
          <p:cNvSpPr/>
          <p:nvPr/>
        </p:nvSpPr>
        <p:spPr>
          <a:xfrm>
            <a:off x="6629400" y="3392424"/>
            <a:ext cx="365760" cy="365760"/>
          </a:xfrm>
          <a:prstGeom prst="oval">
            <a:avLst/>
          </a:prstGeom>
          <a:solidFill>
            <a:srgbClr val="FFF6D9"/>
          </a:solidFill>
          <a:ln w="15875">
            <a:solidFill>
              <a:srgbClr val="F2B705"/>
            </a:solidFill>
            <a:prstDash val="solid"/>
          </a:ln>
        </p:spPr>
      </p:sp>
      <p:sp>
        <p:nvSpPr>
          <p:cNvPr id="30" name="Text 28"/>
          <p:cNvSpPr/>
          <p:nvPr/>
        </p:nvSpPr>
        <p:spPr>
          <a:xfrm>
            <a:off x="6629400" y="3392424"/>
            <a:ext cx="365760" cy="365760"/>
          </a:xfrm>
          <a:prstGeom prst="rect">
            <a:avLst/>
          </a:prstGeom>
          <a:noFill/>
          <a:ln/>
        </p:spPr>
        <p:txBody>
          <a:bodyPr wrap="square" lIns="0" tIns="0" rIns="0" bIns="0" rtlCol="0" anchor="ctr"/>
          <a:lstStyle/>
          <a:p>
            <a:pPr algn="ctr" indent="0" marL="0">
              <a:buNone/>
            </a:pPr>
            <a:r>
              <a:rPr lang="en-US" sz="1400" b="1" dirty="0">
                <a:solidFill>
                  <a:srgbClr val="8A6D00"/>
                </a:solidFill>
                <a:latin typeface="Cambria" pitchFamily="34" charset="0"/>
                <a:ea typeface="Cambria" pitchFamily="34" charset="-122"/>
                <a:cs typeface="Cambria" pitchFamily="34" charset="-120"/>
              </a:rPr>
              <a:t>3</a:t>
            </a:r>
            <a:endParaRPr lang="en-US" sz="1400" dirty="0"/>
          </a:p>
        </p:txBody>
      </p:sp>
      <p:sp>
        <p:nvSpPr>
          <p:cNvPr id="31" name="Text 29"/>
          <p:cNvSpPr/>
          <p:nvPr/>
        </p:nvSpPr>
        <p:spPr>
          <a:xfrm>
            <a:off x="7159752" y="3246120"/>
            <a:ext cx="4297680" cy="658368"/>
          </a:xfrm>
          <a:prstGeom prst="rect">
            <a:avLst/>
          </a:prstGeom>
          <a:noFill/>
          <a:ln/>
        </p:spPr>
        <p:txBody>
          <a:bodyPr wrap="square" lIns="0" tIns="0" rIns="0" bIns="0" rtlCol="0" anchor="ctr"/>
          <a:lstStyle/>
          <a:p>
            <a:pPr algn="l" indent="0" marL="0">
              <a:buNone/>
            </a:pPr>
            <a:r>
              <a:rPr lang="en-US" sz="1300" dirty="0">
                <a:solidFill>
                  <a:srgbClr val="16202A"/>
                </a:solidFill>
                <a:latin typeface="Calibri" pitchFamily="34" charset="0"/>
                <a:ea typeface="Calibri" pitchFamily="34" charset="-122"/>
                <a:cs typeface="Calibri" pitchFamily="34" charset="-120"/>
              </a:rPr>
              <a:t>Add MCP-aware tool validation</a:t>
            </a:r>
            <a:endParaRPr lang="en-US" sz="1300" dirty="0"/>
          </a:p>
        </p:txBody>
      </p:sp>
      <p:sp>
        <p:nvSpPr>
          <p:cNvPr id="32" name="Shape 30"/>
          <p:cNvSpPr/>
          <p:nvPr/>
        </p:nvSpPr>
        <p:spPr>
          <a:xfrm>
            <a:off x="6446520" y="4069080"/>
            <a:ext cx="5212080" cy="658368"/>
          </a:xfrm>
          <a:prstGeom prst="roundRect">
            <a:avLst>
              <a:gd name="adj" fmla="val 8333"/>
            </a:avLst>
          </a:prstGeom>
          <a:solidFill>
            <a:srgbClr val="F3F5F8"/>
          </a:solidFill>
          <a:ln w="12700">
            <a:solidFill>
              <a:srgbClr val="CDD5DF"/>
            </a:solidFill>
            <a:prstDash val="solid"/>
          </a:ln>
        </p:spPr>
      </p:sp>
      <p:sp>
        <p:nvSpPr>
          <p:cNvPr id="33" name="Shape 31"/>
          <p:cNvSpPr/>
          <p:nvPr/>
        </p:nvSpPr>
        <p:spPr>
          <a:xfrm>
            <a:off x="6629400" y="4215384"/>
            <a:ext cx="365760" cy="365760"/>
          </a:xfrm>
          <a:prstGeom prst="oval">
            <a:avLst/>
          </a:prstGeom>
          <a:solidFill>
            <a:srgbClr val="FFF6D9"/>
          </a:solidFill>
          <a:ln w="15875">
            <a:solidFill>
              <a:srgbClr val="F2B705"/>
            </a:solidFill>
            <a:prstDash val="solid"/>
          </a:ln>
        </p:spPr>
      </p:sp>
      <p:sp>
        <p:nvSpPr>
          <p:cNvPr id="34" name="Text 32"/>
          <p:cNvSpPr/>
          <p:nvPr/>
        </p:nvSpPr>
        <p:spPr>
          <a:xfrm>
            <a:off x="6629400" y="4215384"/>
            <a:ext cx="365760" cy="365760"/>
          </a:xfrm>
          <a:prstGeom prst="rect">
            <a:avLst/>
          </a:prstGeom>
          <a:noFill/>
          <a:ln/>
        </p:spPr>
        <p:txBody>
          <a:bodyPr wrap="square" lIns="0" tIns="0" rIns="0" bIns="0" rtlCol="0" anchor="ctr"/>
          <a:lstStyle/>
          <a:p>
            <a:pPr algn="ctr" indent="0" marL="0">
              <a:buNone/>
            </a:pPr>
            <a:r>
              <a:rPr lang="en-US" sz="1400" b="1" dirty="0">
                <a:solidFill>
                  <a:srgbClr val="8A6D00"/>
                </a:solidFill>
                <a:latin typeface="Cambria" pitchFamily="34" charset="0"/>
                <a:ea typeface="Cambria" pitchFamily="34" charset="-122"/>
                <a:cs typeface="Cambria" pitchFamily="34" charset="-120"/>
              </a:rPr>
              <a:t>4</a:t>
            </a:r>
            <a:endParaRPr lang="en-US" sz="1400" dirty="0"/>
          </a:p>
        </p:txBody>
      </p:sp>
      <p:sp>
        <p:nvSpPr>
          <p:cNvPr id="35" name="Text 33"/>
          <p:cNvSpPr/>
          <p:nvPr/>
        </p:nvSpPr>
        <p:spPr>
          <a:xfrm>
            <a:off x="7159752" y="4069080"/>
            <a:ext cx="4297680" cy="658368"/>
          </a:xfrm>
          <a:prstGeom prst="rect">
            <a:avLst/>
          </a:prstGeom>
          <a:noFill/>
          <a:ln/>
        </p:spPr>
        <p:txBody>
          <a:bodyPr wrap="square" lIns="0" tIns="0" rIns="0" bIns="0" rtlCol="0" anchor="ctr"/>
          <a:lstStyle/>
          <a:p>
            <a:pPr algn="l" indent="0" marL="0">
              <a:buNone/>
            </a:pPr>
            <a:r>
              <a:rPr lang="en-US" sz="1300" dirty="0">
                <a:solidFill>
                  <a:srgbClr val="16202A"/>
                </a:solidFill>
                <a:latin typeface="Calibri" pitchFamily="34" charset="0"/>
                <a:ea typeface="Calibri" pitchFamily="34" charset="-122"/>
                <a:cs typeface="Calibri" pitchFamily="34" charset="-120"/>
              </a:rPr>
              <a:t>Evaluate against AgentDojo, InjecAgent, ASB and MCPTox</a:t>
            </a:r>
            <a:endParaRPr lang="en-US" sz="1300" dirty="0"/>
          </a:p>
        </p:txBody>
      </p:sp>
      <p:sp>
        <p:nvSpPr>
          <p:cNvPr id="36" name="Shape 34"/>
          <p:cNvSpPr/>
          <p:nvPr/>
        </p:nvSpPr>
        <p:spPr>
          <a:xfrm>
            <a:off x="6446520" y="5486400"/>
            <a:ext cx="5212080" cy="868680"/>
          </a:xfrm>
          <a:prstGeom prst="roundRect">
            <a:avLst>
              <a:gd name="adj" fmla="val 6316"/>
            </a:avLst>
          </a:prstGeom>
          <a:solidFill>
            <a:srgbClr val="FFF6D9"/>
          </a:solidFill>
          <a:ln w="19050">
            <a:solidFill>
              <a:srgbClr val="F2B705"/>
            </a:solidFill>
            <a:prstDash val="solid"/>
          </a:ln>
        </p:spPr>
      </p:sp>
      <p:sp>
        <p:nvSpPr>
          <p:cNvPr id="37" name="Text 35"/>
          <p:cNvSpPr/>
          <p:nvPr/>
        </p:nvSpPr>
        <p:spPr>
          <a:xfrm>
            <a:off x="6629400" y="5486400"/>
            <a:ext cx="4846320" cy="868680"/>
          </a:xfrm>
          <a:prstGeom prst="rect">
            <a:avLst/>
          </a:prstGeom>
          <a:noFill/>
          <a:ln/>
        </p:spPr>
        <p:txBody>
          <a:bodyPr wrap="square" lIns="0" tIns="0" rIns="0" bIns="0" rtlCol="0" anchor="ctr"/>
          <a:lstStyle/>
          <a:p>
            <a:pPr algn="ctr" indent="0" marL="0">
              <a:buNone/>
            </a:pPr>
            <a:r>
              <a:rPr lang="en-US" sz="1350" b="1" i="1" dirty="0">
                <a:solidFill>
                  <a:srgbClr val="8A6D00"/>
                </a:solidFill>
                <a:latin typeface="Calibri" pitchFamily="34" charset="0"/>
                <a:ea typeface="Calibri" pitchFamily="34" charset="-122"/>
                <a:cs typeface="Calibri" pitchFamily="34" charset="-120"/>
              </a:rPr>
              <a:t>Goal: Move AI agent security from model-level trust to runtime enforcement.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2026-08-11T07:22:42Z</dcterms:created>
  <dcterms:modified xsi:type="dcterms:W3CDTF">2026-08-11T07:22:42Z</dcterms:modified>
</cp:coreProperties>
</file>